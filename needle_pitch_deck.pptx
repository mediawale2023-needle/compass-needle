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0" y="4114800"/>
            <a:ext cx="3657600" cy="32004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26880" y="4572000"/>
            <a:ext cx="2743200" cy="2103120"/>
          </a:xfrm>
          <a:prstGeom prst="rect">
            <a:avLst/>
          </a:prstGeom>
          <a:solidFill>
            <a:srgbClr val="1E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137160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0" b="1" i="0">
                <a:solidFill>
                  <a:srgbClr val="122438"/>
                </a:solidFill>
                <a:latin typeface="Calibri"/>
              </a:rPr>
              <a:t>NEEDLE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3108960" cy="3200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99616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  <a:latin typeface="Calibri"/>
              </a:rPr>
              <a:t>PARLIAMENTARY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6400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alibri"/>
              </a:rPr>
              <a:t>Needle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37560"/>
            <a:ext cx="6217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6E0"/>
                </a:solidFill>
                <a:latin typeface="Calibri"/>
              </a:rPr>
              <a:t>AI-powered constituency management
for every Member of Parliament.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3891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A0B4"/>
                </a:solidFill>
                <a:latin typeface="Calibri"/>
              </a:rPr>
              <a:t>WhatsApp  ·  AI  ·  Dashboard  ·  Drafting  ·  Intelligence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0" y="6355080"/>
            <a:ext cx="119146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A0B4"/>
                </a:solidFill>
                <a:latin typeface="Calibri"/>
              </a:rPr>
              <a:t>MediaWale 2023  ·  Proprietary &amp;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Indian MPs are drowning
in their own constituency.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11091672" cy="9144"/>
          </a:xfrm>
          <a:prstGeom prst="rect">
            <a:avLst/>
          </a:prstGeom>
          <a:solidFill>
            <a:srgbClr val="8A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3474720" cy="347472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45720" cy="34747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1,000+
Grievances /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  <a:latin typeface="Calibri"/>
              </a:rPr>
              <a:t>Most MPs receive thousands of WhatsApp messages, letters, and phone calls — with zero system to track or resolve them.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2103120"/>
            <a:ext cx="3474720" cy="347472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2103120"/>
            <a:ext cx="45720" cy="34747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233172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0
Digital Tools Built for MPs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38328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  <a:latin typeface="Calibri"/>
              </a:rPr>
              <a:t>There is no Indian-made, parliament-aware SaaS product. MPs rely on personal assistants, Excel sheets, and WhatsApp groups.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80" y="2103120"/>
            <a:ext cx="3474720" cy="347472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80" y="2103120"/>
            <a:ext cx="45720" cy="34747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233172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₹1,000 Cr+
CSR Funds Untapped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338328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  <a:latin typeface="Calibri"/>
              </a:rPr>
              <a:t>MPs struggle to connect their constituents with available corporate CSR money. The matching is manual, slow, and opaque.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943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5A623"/>
                </a:solidFill>
                <a:latin typeface="Calibri"/>
              </a:rPr>
              <a:t>"Indian democracy's last mile is broken. Needle fixes it."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  <a:latin typeface="Calibr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Needle — All-in-one AI command
center for the modern MP.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11091672" cy="9144"/>
          </a:xfrm>
          <a:prstGeom prst="rect">
            <a:avLst/>
          </a:prstGeom>
          <a:solidFill>
            <a:srgbClr val="8A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19556" y="2286000"/>
            <a:ext cx="2194560" cy="13716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9556" y="2514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Citizens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9556" y="29718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A0B4"/>
                </a:solidFill>
                <a:latin typeface="Calibri"/>
              </a:rPr>
              <a:t>WhatsApp
message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59836" y="27889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5A623"/>
                </a:solidFill>
                <a:latin typeface="Calibri"/>
              </a:rPr>
              <a:t>▶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71316" y="2286000"/>
            <a:ext cx="2194560" cy="13716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71316" y="2514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  <a:latin typeface="Calibri"/>
              </a:rPr>
              <a:t>Needle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1316" y="29718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1B2A"/>
                </a:solidFill>
                <a:latin typeface="Calibri"/>
              </a:rPr>
              <a:t>Classifies
&amp; routes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11596" y="27889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5A623"/>
                </a:solidFill>
                <a:latin typeface="Calibri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23076" y="2286000"/>
            <a:ext cx="2194560" cy="13716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3076" y="2514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MP 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3076" y="29718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A0B4"/>
                </a:solidFill>
                <a:latin typeface="Calibri"/>
              </a:rPr>
              <a:t>Manages
cases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63356" y="27889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5A623"/>
                </a:solidFill>
                <a:latin typeface="Calibri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74836" y="2286000"/>
            <a:ext cx="2194560" cy="13716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74836" y="2514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74836" y="29718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A0B4"/>
                </a:solidFill>
                <a:latin typeface="Calibri"/>
              </a:rPr>
              <a:t>Resolves
&amp; responds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977639"/>
            <a:ext cx="2377440" cy="347472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977639"/>
            <a:ext cx="36576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" y="4032503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Calibri"/>
              </a:rPr>
              <a:t>WhatsApp Grievance Intake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44952" y="3977639"/>
            <a:ext cx="2377440" cy="347472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044952" y="3977639"/>
            <a:ext cx="36576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54680" y="4032503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Calibri"/>
              </a:rPr>
              <a:t>GPT-4 AI Classification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86984" y="3977639"/>
            <a:ext cx="2377440" cy="347472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586984" y="3977639"/>
            <a:ext cx="36576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96712" y="4032503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Calibri"/>
              </a:rPr>
              <a:t>Multi-language Support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29016" y="3977639"/>
            <a:ext cx="2377440" cy="347472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29016" y="3977639"/>
            <a:ext cx="36576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38744" y="4032503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Calibri"/>
              </a:rPr>
              <a:t>AI Letter &amp; Speech Drafter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462271"/>
            <a:ext cx="2377440" cy="347472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2920" y="4462271"/>
            <a:ext cx="36576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2648" y="4517135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Calibri"/>
              </a:rPr>
              <a:t>Document Copilot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044952" y="4462271"/>
            <a:ext cx="2377440" cy="347472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044952" y="4462271"/>
            <a:ext cx="36576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54680" y="4517135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Calibri"/>
              </a:rPr>
              <a:t>CSR Project Discovery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586984" y="4462271"/>
            <a:ext cx="2377440" cy="347472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586984" y="4462271"/>
            <a:ext cx="36576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96712" y="4517135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Calibri"/>
              </a:rPr>
              <a:t>Constituency News Feed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29016" y="4462271"/>
            <a:ext cx="2377440" cy="347472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129016" y="4462271"/>
            <a:ext cx="36576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38744" y="4517135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Calibri"/>
              </a:rPr>
              <a:t>Analytics &amp; Reporting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  <a:latin typeface="Calibri"/>
              </a:rPr>
              <a:t>FEATURE 01 — GRIEVANCE INTAKE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Every citizen on WhatsApp.
Every complaint in one dashboard.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11091672" cy="9144"/>
          </a:xfrm>
          <a:prstGeom prst="rect">
            <a:avLst/>
          </a:prstGeom>
          <a:solidFill>
            <a:srgbClr val="8A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411480" cy="4114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39696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03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Calibri"/>
              </a:rPr>
              <a:t>Citizen sends a message in any language — Hindi, Marathi, Kannada, English or Hinglish.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411480" cy="4114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779776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743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Calibri"/>
              </a:rPr>
              <a:t>Needle's AI (GPT-4) reads it, detects the language, classifies the grievance into 20 categories.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383280"/>
            <a:ext cx="411480" cy="4114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419856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383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Calibri"/>
              </a:rPr>
              <a:t>Geography engine maps the citizen to the correct Assembly Constituency automatically.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023360"/>
            <a:ext cx="411480" cy="4114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059936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  <a:latin typeface="Calibr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023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Calibri"/>
              </a:rPr>
              <a:t>Case is logged with all metadata. AI sends an instant, personalised acknowledgment.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663440"/>
            <a:ext cx="411480" cy="4114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700016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  <a:latin typeface="Calibri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663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Calibri"/>
              </a:rPr>
              <a:t>MP sees a clean dashboard: status, category, location, priority — ready to act.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0" y="2011680"/>
            <a:ext cx="4846320" cy="41148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0" y="219456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  <a:latin typeface="Calibri"/>
              </a:rPr>
              <a:t>What this means for MPs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269748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77063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A0B4"/>
                </a:solidFill>
                <a:latin typeface="Calibri"/>
              </a:rPr>
              <a:t>Grievance categories tracked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329184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36499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A0B4"/>
                </a:solidFill>
                <a:latin typeface="Calibri"/>
              </a:rPr>
              <a:t>Languages supported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388620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543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395935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A0B4"/>
                </a:solidFill>
                <a:latin typeface="Calibri"/>
              </a:rPr>
              <a:t>Lok Sabha constituencies covered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448056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&lt; 3s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55371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A0B4"/>
                </a:solidFill>
                <a:latin typeface="Calibri"/>
              </a:rPr>
              <a:t>AI response time to citizen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507492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100%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514807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A0B4"/>
                </a:solidFill>
                <a:latin typeface="Calibri"/>
              </a:rPr>
              <a:t>Automatic geography tagging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  <a:latin typeface="Calibri"/>
              </a:rPr>
              <a:t>FEATURE 02 — AI DRAFTER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From idea to Parliament-ready
document in under 60 seconds.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11091672" cy="9144"/>
          </a:xfrm>
          <a:prstGeom prst="rect">
            <a:avLst/>
          </a:prstGeom>
          <a:solidFill>
            <a:srgbClr val="8A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2651760" cy="32004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265176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26771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Official Letters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880360"/>
            <a:ext cx="2377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Calibri"/>
              </a:rPr>
              <a:t>Government of India standard format, F.No., formal Rajbhasha Hindi or English. Ministers, departments, officials.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2103120"/>
            <a:ext cx="2651760" cy="32004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2103120"/>
            <a:ext cx="265176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226771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Parliament Questions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880360"/>
            <a:ext cx="2377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Calibri"/>
              </a:rPr>
              <a:t>Starred &amp; unstarred questions in Lok Sabha / Rajya Sabha format with proper subject lines.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103120"/>
            <a:ext cx="2651760" cy="32004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2103120"/>
            <a:ext cx="265176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26771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Private Member Bills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880360"/>
            <a:ext cx="2377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Calibri"/>
              </a:rPr>
              <a:t>Structured PMB drafts with clause-by-clause format, statement of objects, and reasons.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98280" y="2103120"/>
            <a:ext cx="2651760" cy="32004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280" y="2103120"/>
            <a:ext cx="265176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226771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Speeches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880360"/>
            <a:ext cx="2377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Calibri"/>
              </a:rPr>
              <a:t>Constituency speeches, budget responses, committee statements with data backing.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440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CC71"/>
                </a:solidFill>
                <a:latin typeface="Calibri"/>
              </a:rPr>
              <a:t>✓  Tone selector: Assertive · Diplomatic · Formal · Urgent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73328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CC71"/>
                </a:solidFill>
                <a:latin typeface="Calibri"/>
              </a:rPr>
              <a:t>✓  DNA style templates: Learn the MP's writing voice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025896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CC71"/>
                </a:solidFill>
                <a:latin typeface="Calibri"/>
              </a:rPr>
              <a:t>✓  Formal Rajbhasha Hindi with correct honorifics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31850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CC71"/>
                </a:solidFill>
                <a:latin typeface="Calibri"/>
              </a:rPr>
              <a:t>✓  1-click save to Archives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  <a:latin typeface="Calibri"/>
              </a:rPr>
              <a:t>FEATURE 03 — CONSTITUENCY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7772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Know your constituency better
than any opponent ever could.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11091672" cy="9144"/>
          </a:xfrm>
          <a:prstGeom prst="rect">
            <a:avLst/>
          </a:prstGeom>
          <a:solidFill>
            <a:srgbClr val="8A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057400"/>
            <a:ext cx="3474720" cy="36576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057400"/>
            <a:ext cx="54864" cy="36576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Document Copilot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803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Calibri"/>
              </a:rPr>
              <a:t>▸  Upload any PDF — government report, budget, scheme notification.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576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Calibri"/>
              </a:rPr>
              <a:t>▸  Ask questions in plain English or Hindi.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348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Calibri"/>
              </a:rPr>
              <a:t>▸  Get instant, cited summaries, risk flags, and action recommendations.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78808" y="2057400"/>
            <a:ext cx="3474720" cy="36576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78808" y="2057400"/>
            <a:ext cx="54864" cy="36576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61688" y="2240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CSR Project Discovery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1688" y="28803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Calibri"/>
              </a:rPr>
              <a:t>▸  Browse 10+ shovel-ready projects: schools, borewells, health centres, roads.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1688" y="36576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Calibri"/>
              </a:rPr>
              <a:t>▸  Generate a ready-to-send CSR proposal PDF automatically.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1688" y="44348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Calibri"/>
              </a:rPr>
              <a:t>▸  Match constituency needs with corporate Schedule VII funding.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00416" y="2057400"/>
            <a:ext cx="3474720" cy="36576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00416" y="2057400"/>
            <a:ext cx="54864" cy="3657600"/>
          </a:xfrm>
          <a:prstGeom prst="rect">
            <a:avLst/>
          </a:prstGeom>
          <a:solidFill>
            <a:srgbClr val="954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83296" y="2240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News Intelligence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83296" y="28803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Calibri"/>
              </a:rPr>
              <a:t>▸  Real-time Google News feed filtered for the MP's constituency.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3296" y="36576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Calibri"/>
              </a:rPr>
              <a:t>▸  Constituency-specific + national political news in one view.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83296" y="44348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Calibri"/>
              </a:rPr>
              <a:t>▸  Stay ahead of emerging issues before they become grievances.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  <a:latin typeface="Calibri"/>
              </a:rPr>
              <a:t>THE MP'S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Before Needle vs. After Needle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11091672" cy="9144"/>
          </a:xfrm>
          <a:prstGeom prst="rect">
            <a:avLst/>
          </a:prstGeom>
          <a:solidFill>
            <a:srgbClr val="8A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5303520" cy="5029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BEFORE — Without Needle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5303520" cy="384048"/>
          </a:xfrm>
          <a:prstGeom prst="rect">
            <a:avLst/>
          </a:prstGeom>
          <a:solidFill>
            <a:srgbClr val="1F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35000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AAAA"/>
                </a:solidFill>
                <a:latin typeface="Calibri"/>
              </a:rPr>
              <a:t>✗  Thousands of WhatsApp messages with no system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43200"/>
            <a:ext cx="5303520" cy="384048"/>
          </a:xfrm>
          <a:prstGeom prst="rect">
            <a:avLst/>
          </a:prstGeom>
          <a:solidFill>
            <a:srgbClr val="1F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80720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AAAA"/>
                </a:solidFill>
                <a:latin typeface="Calibri"/>
              </a:rPr>
              <a:t>✗  PA manually notes complaints in registers / Excel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00400"/>
            <a:ext cx="5303520" cy="384048"/>
          </a:xfrm>
          <a:prstGeom prst="rect">
            <a:avLst/>
          </a:prstGeom>
          <a:solidFill>
            <a:srgbClr val="1F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26440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AAAA"/>
                </a:solidFill>
                <a:latin typeface="Calibri"/>
              </a:rPr>
              <a:t>✗  Hours wasted drafting letters from scratch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657600"/>
            <a:ext cx="5303520" cy="384048"/>
          </a:xfrm>
          <a:prstGeom prst="rect">
            <a:avLst/>
          </a:prstGeom>
          <a:solidFill>
            <a:srgbClr val="1F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72160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AAAA"/>
                </a:solidFill>
                <a:latin typeface="Calibri"/>
              </a:rPr>
              <a:t>✗  No idea which grievances are pending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114800"/>
            <a:ext cx="5303520" cy="384048"/>
          </a:xfrm>
          <a:prstGeom prst="rect">
            <a:avLst/>
          </a:prstGeom>
          <a:solidFill>
            <a:srgbClr val="1F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17880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AAAA"/>
                </a:solidFill>
                <a:latin typeface="Calibri"/>
              </a:rPr>
              <a:t>✗  Missed CSR funding opportunities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572000"/>
            <a:ext cx="5303520" cy="384048"/>
          </a:xfrm>
          <a:prstGeom prst="rect">
            <a:avLst/>
          </a:prstGeom>
          <a:solidFill>
            <a:srgbClr val="1F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63600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AAAA"/>
                </a:solidFill>
                <a:latin typeface="Calibri"/>
              </a:rPr>
              <a:t>✗  No data-driven view of constituency health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029200"/>
            <a:ext cx="5303520" cy="384048"/>
          </a:xfrm>
          <a:prstGeom prst="rect">
            <a:avLst/>
          </a:prstGeom>
          <a:solidFill>
            <a:srgbClr val="1F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09320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AAAA"/>
                </a:solidFill>
                <a:latin typeface="Calibri"/>
              </a:rPr>
              <a:t>✗  Dependent on party networks for news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486400"/>
            <a:ext cx="5303520" cy="384048"/>
          </a:xfrm>
          <a:prstGeom prst="rect">
            <a:avLst/>
          </a:prstGeom>
          <a:solidFill>
            <a:srgbClr val="1F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55040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AAAA"/>
                </a:solidFill>
                <a:latin typeface="Calibri"/>
              </a:rPr>
              <a:t>✗  Reactive to problems rather than proactive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1645920"/>
            <a:ext cx="5303520" cy="5029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16459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Calibri"/>
              </a:rPr>
              <a:t>AFTER — With Needle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2286000"/>
            <a:ext cx="5303520" cy="384048"/>
          </a:xfrm>
          <a:prstGeom prst="rect">
            <a:avLst/>
          </a:prstGeom>
          <a:solidFill>
            <a:srgbClr val="0D1F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235000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FFCC"/>
                </a:solidFill>
                <a:latin typeface="Calibri"/>
              </a:rPr>
              <a:t>✓  All citizen messages auto-captured &amp; categorised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2743200"/>
            <a:ext cx="5303520" cy="384048"/>
          </a:xfrm>
          <a:prstGeom prst="rect">
            <a:avLst/>
          </a:prstGeom>
          <a:solidFill>
            <a:srgbClr val="0D1F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280720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FFCC"/>
                </a:solidFill>
                <a:latin typeface="Calibri"/>
              </a:rPr>
              <a:t>✓  AI handles intake 24/7, PA focuses on resolution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3200400"/>
            <a:ext cx="5303520" cy="384048"/>
          </a:xfrm>
          <a:prstGeom prst="rect">
            <a:avLst/>
          </a:prstGeom>
          <a:solidFill>
            <a:srgbClr val="0D1F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326440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FFCC"/>
                </a:solidFill>
                <a:latin typeface="Calibri"/>
              </a:rPr>
              <a:t>✓  Professional letters drafted in under 60 seconds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3657600"/>
            <a:ext cx="5303520" cy="384048"/>
          </a:xfrm>
          <a:prstGeom prst="rect">
            <a:avLst/>
          </a:prstGeom>
          <a:solidFill>
            <a:srgbClr val="0D1F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372160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FFCC"/>
                </a:solidFill>
                <a:latin typeface="Calibri"/>
              </a:rPr>
              <a:t>✓  Real-time case tracker with status &amp; priority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4114800"/>
            <a:ext cx="5303520" cy="384048"/>
          </a:xfrm>
          <a:prstGeom prst="rect">
            <a:avLst/>
          </a:prstGeom>
          <a:solidFill>
            <a:srgbClr val="0D1F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960" y="417880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FFCC"/>
                </a:solidFill>
                <a:latin typeface="Calibri"/>
              </a:rPr>
              <a:t>✓  CSR discovery + proposal generation built in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4572000"/>
            <a:ext cx="5303520" cy="384048"/>
          </a:xfrm>
          <a:prstGeom prst="rect">
            <a:avLst/>
          </a:prstGeom>
          <a:solidFill>
            <a:srgbClr val="0D1F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0" y="463600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FFCC"/>
                </a:solidFill>
                <a:latin typeface="Calibri"/>
              </a:rPr>
              <a:t>✓  Analytics dashboard: category trends, resolution rate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5029200"/>
            <a:ext cx="5303520" cy="384048"/>
          </a:xfrm>
          <a:prstGeom prst="rect">
            <a:avLst/>
          </a:prstGeom>
          <a:solidFill>
            <a:srgbClr val="0D1F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509320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FFCC"/>
                </a:solidFill>
                <a:latin typeface="Calibri"/>
              </a:rPr>
              <a:t>✓  Constituency-filtered live news in one click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5486400"/>
            <a:ext cx="5303520" cy="384048"/>
          </a:xfrm>
          <a:prstGeom prst="rect">
            <a:avLst/>
          </a:prstGeom>
          <a:solidFill>
            <a:srgbClr val="0D1F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37960" y="555040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FFCC"/>
                </a:solidFill>
                <a:latin typeface="Calibri"/>
              </a:rPr>
              <a:t>✓  AI flags emerging issues before they escalate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  <a:latin typeface="Calibri"/>
              </a:rP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The largest untapped GovTech
market in the world.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11091672" cy="9144"/>
          </a:xfrm>
          <a:prstGeom prst="rect">
            <a:avLst/>
          </a:prstGeom>
          <a:solidFill>
            <a:srgbClr val="8A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2651760" cy="192024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265176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5A623"/>
                </a:solidFill>
                <a:latin typeface="Calibri"/>
              </a:rPr>
              <a:t>543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175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Lok Sabha MPs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290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A0B4"/>
                </a:solidFill>
                <a:latin typeface="Calibri"/>
              </a:rPr>
              <a:t>India's Lower House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2103120"/>
            <a:ext cx="2651760" cy="192024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2103120"/>
            <a:ext cx="265176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228600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5A623"/>
                </a:solidFill>
                <a:latin typeface="Calibri"/>
              </a:rPr>
              <a:t>245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30175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Rajya Sabha MPs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34290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A0B4"/>
                </a:solidFill>
                <a:latin typeface="Calibri"/>
              </a:rPr>
              <a:t>India's Upper House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103120"/>
            <a:ext cx="2651760" cy="192024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2103120"/>
            <a:ext cx="265176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228600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5A623"/>
                </a:solidFill>
                <a:latin typeface="Calibri"/>
              </a:rPr>
              <a:t>4,100+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0175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State MLAs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4290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A0B4"/>
                </a:solidFill>
                <a:latin typeface="Calibri"/>
              </a:rPr>
              <a:t>Vidhansabha members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98280" y="2103120"/>
            <a:ext cx="2651760" cy="192024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98280" y="2103120"/>
            <a:ext cx="265176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98280" y="228600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5A623"/>
                </a:solidFill>
                <a:latin typeface="Calibri"/>
              </a:rPr>
              <a:t>1M+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30175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Local Ward Reps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34290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A0B4"/>
                </a:solidFill>
                <a:latin typeface="Calibri"/>
              </a:rPr>
              <a:t>Zila Panchayat &amp; ULBs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206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  <a:latin typeface="Calibri"/>
              </a:rPr>
              <a:t>Market Sizing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663440"/>
            <a:ext cx="3383280" cy="155448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754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TAM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0749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₹1,200 Cr / yr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4406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0B4"/>
                </a:solidFill>
                <a:latin typeface="Calibri"/>
              </a:rPr>
              <a:t>All elected reps in India @ ₹10K/mo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6240" y="4663440"/>
            <a:ext cx="3383280" cy="155448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20" y="4754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SAM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50749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₹120 Cr / yr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54406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0B4"/>
                </a:solidFill>
                <a:latin typeface="Calibri"/>
              </a:rPr>
              <a:t>All 543 + 245 national MPs @ ₹10K/mo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863840" y="4663440"/>
            <a:ext cx="3383280" cy="155448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0" y="4754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SOM (Y3)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0" y="50749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₹18 Cr / yr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0" y="54406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0B4"/>
                </a:solidFill>
                <a:latin typeface="Calibri"/>
              </a:rPr>
              <a:t>150 MPs @ ₹10K/mo — 20% Lok Sabha penetration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  <a:latin typeface="Calibri"/>
              </a:rP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Enterprise-grade. Cloud-native.
Built for scale.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11091672" cy="9144"/>
          </a:xfrm>
          <a:prstGeom prst="rect">
            <a:avLst/>
          </a:prstGeom>
          <a:solidFill>
            <a:srgbClr val="8A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3291840" cy="347472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3291840" cy="54864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40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BC9C"/>
                </a:solidFill>
                <a:latin typeface="Calibri"/>
              </a:rPr>
              <a:t>INPUT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697480"/>
            <a:ext cx="2926080" cy="411480"/>
          </a:xfrm>
          <a:prstGeom prst="rect">
            <a:avLst/>
          </a:prstGeom>
          <a:solidFill>
            <a:srgbClr val="1A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761488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WhatsApp (Twilio)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246120"/>
            <a:ext cx="2926080" cy="411480"/>
          </a:xfrm>
          <a:prstGeom prst="rect">
            <a:avLst/>
          </a:prstGeom>
          <a:solidFill>
            <a:srgbClr val="1A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310128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Citizen Messages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794760"/>
            <a:ext cx="2926080" cy="411480"/>
          </a:xfrm>
          <a:prstGeom prst="rect">
            <a:avLst/>
          </a:prstGeom>
          <a:solidFill>
            <a:srgbClr val="1A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858768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Multi-language NLP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35661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60" y="2103120"/>
            <a:ext cx="3291840" cy="347472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51960" y="2103120"/>
            <a:ext cx="329184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51960" y="2240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A623"/>
                </a:solidFill>
                <a:latin typeface="Calibri"/>
              </a:rPr>
              <a:t>AI ENGINE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34840" y="2697480"/>
            <a:ext cx="2926080" cy="411480"/>
          </a:xfrm>
          <a:prstGeom prst="rect">
            <a:avLst/>
          </a:prstGeom>
          <a:solidFill>
            <a:srgbClr val="1A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2761488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GPT-4 Classification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34840" y="3246120"/>
            <a:ext cx="2926080" cy="411480"/>
          </a:xfrm>
          <a:prstGeom prst="rect">
            <a:avLst/>
          </a:prstGeom>
          <a:solidFill>
            <a:srgbClr val="1A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3310128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Geography Resolver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34840" y="3794760"/>
            <a:ext cx="2926080" cy="411480"/>
          </a:xfrm>
          <a:prstGeom prst="rect">
            <a:avLst/>
          </a:prstGeom>
          <a:solidFill>
            <a:srgbClr val="1A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3858768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Rajbhasha Drafter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34840" y="4343400"/>
            <a:ext cx="2926080" cy="411480"/>
          </a:xfrm>
          <a:prstGeom prst="rect">
            <a:avLst/>
          </a:prstGeom>
          <a:solidFill>
            <a:srgbClr val="1A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26280" y="4407408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Document Copilot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35240" y="35661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  <a:latin typeface="Calibri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80" y="2103120"/>
            <a:ext cx="3291840" cy="347472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55280" y="2103120"/>
            <a:ext cx="3291840" cy="54864"/>
          </a:xfrm>
          <a:prstGeom prst="rect">
            <a:avLst/>
          </a:prstGeom>
          <a:solidFill>
            <a:srgbClr val="954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55280" y="2240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544F4"/>
                </a:solidFill>
                <a:latin typeface="Calibri"/>
              </a:rPr>
              <a:t>DELIVERY LAYER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38160" y="2697480"/>
            <a:ext cx="2926080" cy="411480"/>
          </a:xfrm>
          <a:prstGeom prst="rect">
            <a:avLst/>
          </a:prstGeom>
          <a:solidFill>
            <a:srgbClr val="1A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0" y="2761488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MP Dashboard (Next.js)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38160" y="3246120"/>
            <a:ext cx="2926080" cy="411480"/>
          </a:xfrm>
          <a:prstGeom prst="rect">
            <a:avLst/>
          </a:prstGeom>
          <a:solidFill>
            <a:srgbClr val="1A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0" y="3310128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Admin Dashboard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38160" y="3794760"/>
            <a:ext cx="2926080" cy="411480"/>
          </a:xfrm>
          <a:prstGeom prst="rect">
            <a:avLst/>
          </a:prstGeom>
          <a:solidFill>
            <a:srgbClr val="1A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0" y="3858768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Case Analytics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38160" y="4343400"/>
            <a:ext cx="2926080" cy="411480"/>
          </a:xfrm>
          <a:prstGeom prst="rect">
            <a:avLst/>
          </a:prstGeom>
          <a:solidFill>
            <a:srgbClr val="1A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0" y="4407408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CSR &amp; News Modules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760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A0B4"/>
                </a:solidFill>
                <a:latin typeface="Calibri"/>
              </a:rPr>
              <a:t>TECH STACK: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011680" y="5760720"/>
            <a:ext cx="1600200" cy="32004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03120" y="578815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CD6E0"/>
                </a:solidFill>
                <a:latin typeface="Calibri"/>
              </a:rPr>
              <a:t>FastAPI  Python 3.11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703320" y="5760720"/>
            <a:ext cx="1600200" cy="32004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94760" y="578815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CD6E0"/>
                </a:solidFill>
                <a:latin typeface="Calibri"/>
              </a:rPr>
              <a:t>Next.js 15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394960" y="5760720"/>
            <a:ext cx="1600200" cy="32004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0" y="578815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CD6E0"/>
                </a:solidFill>
                <a:latin typeface="Calibri"/>
              </a:rPr>
              <a:t>PostgreSQL  Railway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086600" y="5760720"/>
            <a:ext cx="1600200" cy="32004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78040" y="578815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CD6E0"/>
                </a:solidFill>
                <a:latin typeface="Calibri"/>
              </a:rPr>
              <a:t>OpenAI GPT-4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778240" y="5760720"/>
            <a:ext cx="1600200" cy="32004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869680" y="578815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CD6E0"/>
                </a:solidFill>
                <a:latin typeface="Calibri"/>
              </a:rPr>
              <a:t>Twilio WhatsApp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469880" y="5760720"/>
            <a:ext cx="1600200" cy="32004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561320" y="578815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CD6E0"/>
                </a:solidFill>
                <a:latin typeface="Calibri"/>
              </a:rPr>
              <a:t>Docker  Railway Cloud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  <a:latin typeface="Calibri"/>
              </a:rPr>
              <a:t>COMPETITIVE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Deep moats. First-mover.
Impossible to replicate quickly.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11091672" cy="9144"/>
          </a:xfrm>
          <a:prstGeom prst="rect">
            <a:avLst/>
          </a:prstGeom>
          <a:solidFill>
            <a:srgbClr val="8A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2651760" cy="32004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265176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Parliamentary
Domain Expertise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08960"/>
            <a:ext cx="2377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Calibri"/>
              </a:rPr>
              <a:t>Built-in knowledge of Parliament rules, GoI letter formats, Rajbhasha standards, and grievance taxonomy — not generic AI.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2103120"/>
            <a:ext cx="2651760" cy="32004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2103120"/>
            <a:ext cx="2651760" cy="54864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22860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Geography
Data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3108960"/>
            <a:ext cx="2377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Calibri"/>
              </a:rPr>
              <a:t>5,000+ polling stations mapped to Assembly Constituencies. This data layer took months to build and is proprietary.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103120"/>
            <a:ext cx="2651760" cy="32004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2103120"/>
            <a:ext cx="2651760" cy="54864"/>
          </a:xfrm>
          <a:prstGeom prst="rect">
            <a:avLst/>
          </a:prstGeom>
          <a:solidFill>
            <a:srgbClr val="954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22860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Multi-language
Political NLP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108960"/>
            <a:ext cx="2377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Calibri"/>
              </a:rPr>
              <a:t>AI tuned for Indian political language — Hinglish, regional dialects, government vocabulary across 5+ languages.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40" y="2103120"/>
            <a:ext cx="2651760" cy="32004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35440" y="2103120"/>
            <a:ext cx="265176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22860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Network
Effects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3108960"/>
            <a:ext cx="2377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Calibri"/>
              </a:rPr>
              <a:t>Each onboarded MP generates data that makes the AI smarter for all MPs. Grievance taxonomy improves with every case.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5321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5A623"/>
                </a:solidFill>
                <a:latin typeface="Calibri"/>
              </a:rPr>
              <a:t>No comparable product exists in India for parliamentarians. Needle is building a category.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  <a:latin typeface="Calibri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Subscription SaaS with high retention
and predictable recurring revenue.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11091672" cy="9144"/>
          </a:xfrm>
          <a:prstGeom prst="rect">
            <a:avLst/>
          </a:prstGeom>
          <a:solidFill>
            <a:srgbClr val="8A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2011680"/>
            <a:ext cx="3291840" cy="384048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2011680"/>
            <a:ext cx="3291840" cy="64008"/>
          </a:xfrm>
          <a:prstGeom prst="rect">
            <a:avLst/>
          </a:prstGeom>
          <a:solidFill>
            <a:srgbClr val="8A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5146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Starter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260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CCD6E0"/>
                </a:solidFill>
                <a:latin typeface="Calibri"/>
              </a:rPr>
              <a:t>₹5,000 / mo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474720"/>
            <a:ext cx="11091672" cy="9144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5661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  <a:latin typeface="Calibri"/>
              </a:rPr>
              <a:t>✓  WhatsApp Intake (500 cases/mo)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91363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  <a:latin typeface="Calibri"/>
              </a:rPr>
              <a:t>✓  Case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26110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  <a:latin typeface="Calibri"/>
              </a:rPr>
              <a:t>✓  Basic Drafter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0857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  <a:latin typeface="Calibri"/>
              </a:rPr>
              <a:t>✓  Email Support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2011680"/>
            <a:ext cx="3291840" cy="384048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06240" y="2011680"/>
            <a:ext cx="329184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83480" y="2148840"/>
            <a:ext cx="1737360" cy="2560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83480" y="218541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  <a:latin typeface="Calibri"/>
              </a:rPr>
              <a:t>MOST POPULAR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25146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29260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5A623"/>
                </a:solidFill>
                <a:latin typeface="Calibri"/>
              </a:rPr>
              <a:t>₹10,000 / mo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474720"/>
            <a:ext cx="11091672" cy="9144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35661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✓  Unlimited Cases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391363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✓  Full AI Drafter Suite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426110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✓  Document Copilot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460857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✓  CSR Discovery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495604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✓  Constituency News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53035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✓  Priority Support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18120" y="2011680"/>
            <a:ext cx="3291840" cy="384048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18120" y="2011680"/>
            <a:ext cx="3291840" cy="64008"/>
          </a:xfrm>
          <a:prstGeom prst="rect">
            <a:avLst/>
          </a:prstGeom>
          <a:solidFill>
            <a:srgbClr val="8A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18120" y="25146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Elite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18120" y="29260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CCD6E0"/>
                </a:solidFill>
                <a:latin typeface="Calibri"/>
              </a:rPr>
              <a:t>₹25,000 / mo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474720"/>
            <a:ext cx="11091672" cy="9144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01000" y="35661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  <a:latin typeface="Calibri"/>
              </a:rPr>
              <a:t>✓  Everything in Pro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01000" y="391363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  <a:latin typeface="Calibri"/>
              </a:rPr>
              <a:t>✓  Custom DNA Templates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1000" y="426110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  <a:latin typeface="Calibri"/>
              </a:rPr>
              <a:t>✓  Multi-seat access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01000" y="460857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  <a:latin typeface="Calibri"/>
              </a:rPr>
              <a:t>✓  Dedicated Onboarding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1000" y="495604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  <a:latin typeface="Calibri"/>
              </a:rPr>
              <a:t>✓  SLA 99.9%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01000" y="53035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  <a:latin typeface="Calibri"/>
              </a:rPr>
              <a:t>✓  WhatsApp Support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989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A623"/>
                </a:solidFill>
                <a:latin typeface="Calibri"/>
              </a:rPr>
              <a:t>At 150 MPs on Pro plan:  150 × ₹10,000 = ₹1.5 Cr / month  =  ₹18 Cr ARR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  <a:latin typeface="Calibri"/>
              </a:rPr>
              <a:t>TRACTION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Built. Deployed. Ready to scale.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11091672" cy="9144"/>
          </a:xfrm>
          <a:prstGeom prst="rect">
            <a:avLst/>
          </a:prstGeom>
          <a:solidFill>
            <a:srgbClr val="8A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  <a:latin typeface="Calibri"/>
              </a:rPr>
              <a:t>PRODUCT MILESTONE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57984"/>
            <a:ext cx="457200" cy="25603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5798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D1B2A"/>
                </a:solidFill>
                <a:latin typeface="Calibri"/>
              </a:rPr>
              <a:t>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10312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Calibri"/>
              </a:rPr>
              <a:t>WhatsApp grievance intake — production ready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578608"/>
            <a:ext cx="457200" cy="25603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578608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D1B2A"/>
                </a:solidFill>
                <a:latin typeface="Calibri"/>
              </a:rPr>
              <a:t>LIVE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523744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Calibri"/>
              </a:rPr>
              <a:t>GPT-4 AI classification engine — multi-language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999232"/>
            <a:ext cx="457200" cy="25603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99923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D1B2A"/>
                </a:solidFill>
                <a:latin typeface="Calibri"/>
              </a:rPr>
              <a:t>LIVE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294436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Calibri"/>
              </a:rPr>
              <a:t>Geography engine — 543 constituencies mapped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419856"/>
            <a:ext cx="457200" cy="25603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419856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D1B2A"/>
                </a:solidFill>
                <a:latin typeface="Calibri"/>
              </a:rPr>
              <a:t>LIVE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33649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Calibri"/>
              </a:rPr>
              <a:t>MP Dashboard — Next.js, JWT auth, full RBAC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840480"/>
            <a:ext cx="457200" cy="25603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84048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D1B2A"/>
                </a:solidFill>
                <a:latin typeface="Calibri"/>
              </a:rPr>
              <a:t>LIVE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3785616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Calibri"/>
              </a:rPr>
              <a:t>AI Drafter — letters, speeches, PMBs, questions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261104"/>
            <a:ext cx="457200" cy="25603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26110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D1B2A"/>
                </a:solidFill>
                <a:latin typeface="Calibri"/>
              </a:rPr>
              <a:t>LIVE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42062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Calibri"/>
              </a:rPr>
              <a:t>Admin command centre — multi-tenant management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681728"/>
            <a:ext cx="457200" cy="25603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681728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D1B2A"/>
                </a:solidFill>
                <a:latin typeface="Calibri"/>
              </a:rPr>
              <a:t>LIVE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" y="4626864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Calibri"/>
              </a:rPr>
              <a:t>Document Copilot — PDF Q&amp;A for MPs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102352"/>
            <a:ext cx="457200" cy="25603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10235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D1B2A"/>
                </a:solidFill>
                <a:latin typeface="Calibri"/>
              </a:rPr>
              <a:t>LIVE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" y="504748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Calibri"/>
              </a:rPr>
              <a:t>CSR discovery &amp; proposal generation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522976"/>
            <a:ext cx="457200" cy="25603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522976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D1B2A"/>
                </a:solidFill>
                <a:latin typeface="Calibri"/>
              </a:rPr>
              <a:t>LIVE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" y="546811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Calibri"/>
              </a:rPr>
              <a:t>Constituency News Intelligence feed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  <a:latin typeface="Calibri"/>
              </a:rPr>
              <a:t>GROWTH ROADMAP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0" y="2148840"/>
            <a:ext cx="1005840" cy="27432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21488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5A623"/>
                </a:solidFill>
                <a:latin typeface="Calibri"/>
              </a:rPr>
              <a:t>Q2 2025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0" y="210312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Calibri"/>
              </a:rPr>
              <a:t>Onboard first 10 paying MPs — pilot programme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0" y="2624328"/>
            <a:ext cx="1005840" cy="27432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0" y="26243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5A623"/>
                </a:solidFill>
                <a:latin typeface="Calibri"/>
              </a:rPr>
              <a:t>Q3 2025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960" y="2578608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Calibri"/>
              </a:rPr>
              <a:t>State assembly (MLA) version — expand to 4,100 seat market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0" y="3099816"/>
            <a:ext cx="1005840" cy="27432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0" y="309981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5A623"/>
                </a:solidFill>
                <a:latin typeface="Calibri"/>
              </a:rPr>
              <a:t>Q4 2025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80960" y="3054096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Calibri"/>
              </a:rPr>
              <a:t>Mobile app for MPs — iOS &amp; Android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0" y="3575304"/>
            <a:ext cx="1005840" cy="27432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0" y="357530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5A623"/>
                </a:solidFill>
                <a:latin typeface="Calibri"/>
              </a:rPr>
              <a:t>Q1 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80960" y="3529584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Calibri"/>
              </a:rPr>
              <a:t>Vernacular voice grievance intake (IVR + WhatsApp voice)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83680" y="4050792"/>
            <a:ext cx="1005840" cy="27432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83680" y="405079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5A623"/>
                </a:solidFill>
                <a:latin typeface="Calibri"/>
              </a:rPr>
              <a:t>Q2 2026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80960" y="400507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Calibri"/>
              </a:rPr>
              <a:t>State government API integrations — live scheme status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80" y="4526280"/>
            <a:ext cx="1005840" cy="27432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83680" y="452628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5A623"/>
                </a:solidFill>
                <a:latin typeface="Calibri"/>
              </a:rPr>
              <a:t>Q3 2026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80960" y="448056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Calibri"/>
              </a:rPr>
              <a:t>100 MPs milestone — Series A fundraise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83680" y="5001768"/>
            <a:ext cx="1005840" cy="27432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83680" y="500176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5A623"/>
                </a:solidFill>
                <a:latin typeface="Calibri"/>
              </a:rPr>
              <a:t>2027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80960" y="4956048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Calibri"/>
              </a:rPr>
              <a:t>Expand to Sri Lanka, Bangladesh, Nepal — SAARC play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1371600"/>
            <a:ext cx="4572000" cy="54864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0" y="2011680"/>
            <a:ext cx="3657600" cy="4114800"/>
          </a:xfrm>
          <a:prstGeom prst="rect">
            <a:avLst/>
          </a:prstGeom>
          <a:solidFill>
            <a:srgbClr val="1A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28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  <a:latin typeface="Calibri"/>
              </a:rPr>
              <a:t>THE 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6858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Join the future
of Indian democracy.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40280"/>
            <a:ext cx="11091672" cy="9144"/>
          </a:xfrm>
          <a:prstGeom prst="rect">
            <a:avLst/>
          </a:prstGeom>
          <a:solidFill>
            <a:srgbClr val="8A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377440"/>
            <a:ext cx="5303520" cy="457200"/>
          </a:xfrm>
          <a:prstGeom prst="rect">
            <a:avLst/>
          </a:prstGeom>
          <a:solidFill>
            <a:srgbClr val="142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377440"/>
            <a:ext cx="54864" cy="457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44144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  <a:latin typeface="Calibri"/>
              </a:rPr>
              <a:t>FOR MEMBERS OF PARLIAMENT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718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  <a:latin typeface="Calibri"/>
              </a:rPr>
              <a:t>▸  Start your free 30-day pilot — no IT setup required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35584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  <a:latin typeface="Calibri"/>
              </a:rPr>
              <a:t>▸  Get your constituency live on Needle in under 48 hours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3989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  <a:latin typeface="Calibri"/>
              </a:rPr>
              <a:t>▸  Join a cohort of forward-thinking MPs who put constituents first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389120"/>
            <a:ext cx="5303520" cy="457200"/>
          </a:xfrm>
          <a:prstGeom prst="rect">
            <a:avLst/>
          </a:prstGeom>
          <a:solidFill>
            <a:srgbClr val="14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389120"/>
            <a:ext cx="54864" cy="457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445312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FOR INVESTORS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  <a:latin typeface="Calibri"/>
              </a:rPr>
              <a:t>▸  Raising ₹2 Cr seed to fuel MP acquisition &amp; team growth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36752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  <a:latin typeface="Calibri"/>
              </a:rPr>
              <a:t>▸  Use of funds: 50% sales, 30% product, 20% ops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75157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  <a:latin typeface="Calibri"/>
              </a:rPr>
              <a:t>▸  Targeting 50 MPs in Y1 → ₹6 Cr ARR → Series A in 24 months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3774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needle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31089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A0B4"/>
                </a:solidFill>
                <a:latin typeface="Calibri"/>
              </a:rPr>
              <a:t>Parliamentary Intelligence Platform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657600"/>
            <a:ext cx="11091672" cy="9144"/>
          </a:xfrm>
          <a:prstGeom prst="rect">
            <a:avLst/>
          </a:prstGeom>
          <a:solidFill>
            <a:srgbClr val="8A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0" y="37947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A623"/>
                </a:solidFill>
                <a:latin typeface="Calibri"/>
              </a:rPr>
              <a:t>contact@mediawale.in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4251960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A0B4"/>
                </a:solidFill>
                <a:latin typeface="Calibri"/>
              </a:rPr>
              <a:t>MediaWale 2023 Pvt Ltd
All rights reserved · Proprietary &amp; Confidential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94360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5A623"/>
                </a:solidFill>
                <a:latin typeface="Calibri"/>
              </a:rPr>
              <a:t>"The MP who knows their constituency best — wins.
Needle makes that MP you."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