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45720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88952" cy="457200"/>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36576" cy="6858000"/>
          </a:xfrm>
          <a:prstGeom prst="rect">
            <a:avLst/>
          </a:prstGeom>
          <a:solidFill>
            <a:srgbClr val="0F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223760" y="0"/>
            <a:ext cx="36576" cy="6858000"/>
          </a:xfrm>
          <a:prstGeom prst="rect">
            <a:avLst/>
          </a:prstGeom>
          <a:solidFill>
            <a:srgbClr val="0F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46720" y="0"/>
            <a:ext cx="36576" cy="6858000"/>
          </a:xfrm>
          <a:prstGeom prst="rect">
            <a:avLst/>
          </a:prstGeom>
          <a:solidFill>
            <a:srgbClr val="0F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69680" y="0"/>
            <a:ext cx="36576" cy="6858000"/>
          </a:xfrm>
          <a:prstGeom prst="rect">
            <a:avLst/>
          </a:prstGeom>
          <a:solidFill>
            <a:srgbClr val="0F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92640" y="0"/>
            <a:ext cx="36576" cy="6858000"/>
          </a:xfrm>
          <a:prstGeom prst="rect">
            <a:avLst/>
          </a:prstGeom>
          <a:solidFill>
            <a:srgbClr val="0F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15600" y="0"/>
            <a:ext cx="36576" cy="6858000"/>
          </a:xfrm>
          <a:prstGeom prst="rect">
            <a:avLst/>
          </a:prstGeom>
          <a:solidFill>
            <a:srgbClr val="0F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338560" y="0"/>
            <a:ext cx="36576" cy="6858000"/>
          </a:xfrm>
          <a:prstGeom prst="rect">
            <a:avLst/>
          </a:prstGeom>
          <a:solidFill>
            <a:srgbClr val="0F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161520" y="0"/>
            <a:ext cx="36576" cy="6858000"/>
          </a:xfrm>
          <a:prstGeom prst="rect">
            <a:avLst/>
          </a:prstGeom>
          <a:solidFill>
            <a:srgbClr val="0F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731520"/>
            <a:ext cx="12188952" cy="4572000"/>
          </a:xfrm>
          <a:prstGeom prst="rect">
            <a:avLst/>
          </a:prstGeom>
          <a:noFill/>
        </p:spPr>
        <p:txBody>
          <a:bodyPr wrap="square">
            <a:spAutoFit/>
          </a:bodyPr>
          <a:lstStyle/>
          <a:p>
            <a:pPr algn="l"/>
            <a:r>
              <a:rPr sz="22000" b="1" i="0">
                <a:solidFill>
                  <a:srgbClr val="0C1A2E"/>
                </a:solidFill>
                <a:latin typeface="Calibri"/>
              </a:rPr>
              <a:t>NEEDLE</a:t>
            </a:r>
          </a:p>
        </p:txBody>
      </p:sp>
      <p:sp>
        <p:nvSpPr>
          <p:cNvPr id="13" name="Rectangle 12"/>
          <p:cNvSpPr/>
          <p:nvPr/>
        </p:nvSpPr>
        <p:spPr>
          <a:xfrm>
            <a:off x="548640" y="1234440"/>
            <a:ext cx="5943600" cy="347472"/>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280160"/>
            <a:ext cx="5943600" cy="301752"/>
          </a:xfrm>
          <a:prstGeom prst="rect">
            <a:avLst/>
          </a:prstGeom>
          <a:noFill/>
        </p:spPr>
        <p:txBody>
          <a:bodyPr wrap="square">
            <a:spAutoFit/>
          </a:bodyPr>
          <a:lstStyle/>
          <a:p>
            <a:pPr algn="ctr"/>
            <a:r>
              <a:rPr sz="900" b="1" i="0">
                <a:solidFill>
                  <a:srgbClr val="07101E"/>
                </a:solidFill>
                <a:latin typeface="Calibri"/>
              </a:rPr>
              <a:t>FOR MPs · MLAs · COUNCILLORS · ASPIRANTS</a:t>
            </a:r>
          </a:p>
        </p:txBody>
      </p:sp>
      <p:sp>
        <p:nvSpPr>
          <p:cNvPr id="15" name="TextBox 14"/>
          <p:cNvSpPr txBox="1"/>
          <p:nvPr/>
        </p:nvSpPr>
        <p:spPr>
          <a:xfrm>
            <a:off x="548640" y="1737360"/>
            <a:ext cx="8229600" cy="1920240"/>
          </a:xfrm>
          <a:prstGeom prst="rect">
            <a:avLst/>
          </a:prstGeom>
          <a:noFill/>
        </p:spPr>
        <p:txBody>
          <a:bodyPr wrap="square">
            <a:spAutoFit/>
          </a:bodyPr>
          <a:lstStyle/>
          <a:p>
            <a:pPr algn="l"/>
            <a:r>
              <a:rPr sz="5200" b="1" i="0">
                <a:solidFill>
                  <a:srgbClr val="FFFFFF"/>
                </a:solidFill>
                <a:latin typeface="Calibri"/>
              </a:rPr>
              <a:t>The politician who knows
their constituency best</a:t>
            </a:r>
          </a:p>
        </p:txBody>
      </p:sp>
      <p:sp>
        <p:nvSpPr>
          <p:cNvPr id="16" name="TextBox 15"/>
          <p:cNvSpPr txBox="1"/>
          <p:nvPr/>
        </p:nvSpPr>
        <p:spPr>
          <a:xfrm>
            <a:off x="548640" y="3566160"/>
            <a:ext cx="8229600" cy="822960"/>
          </a:xfrm>
          <a:prstGeom prst="rect">
            <a:avLst/>
          </a:prstGeom>
          <a:noFill/>
        </p:spPr>
        <p:txBody>
          <a:bodyPr wrap="square">
            <a:spAutoFit/>
          </a:bodyPr>
          <a:lstStyle/>
          <a:p>
            <a:pPr algn="l"/>
            <a:r>
              <a:rPr sz="5200" b="1" i="0">
                <a:solidFill>
                  <a:srgbClr val="F5C518"/>
                </a:solidFill>
                <a:latin typeface="Calibri"/>
              </a:rPr>
              <a:t>— wins.</a:t>
            </a:r>
          </a:p>
        </p:txBody>
      </p:sp>
      <p:sp>
        <p:nvSpPr>
          <p:cNvPr id="17" name="TextBox 16"/>
          <p:cNvSpPr txBox="1"/>
          <p:nvPr/>
        </p:nvSpPr>
        <p:spPr>
          <a:xfrm>
            <a:off x="548640" y="4526280"/>
            <a:ext cx="7315200" cy="868680"/>
          </a:xfrm>
          <a:prstGeom prst="rect">
            <a:avLst/>
          </a:prstGeom>
          <a:noFill/>
        </p:spPr>
        <p:txBody>
          <a:bodyPr wrap="square">
            <a:spAutoFit/>
          </a:bodyPr>
          <a:lstStyle/>
          <a:p>
            <a:pPr algn="l"/>
            <a:r>
              <a:rPr sz="1600" b="0" i="0">
                <a:solidFill>
                  <a:srgbClr val="D4E1ED"/>
                </a:solidFill>
                <a:latin typeface="Calibri"/>
              </a:rPr>
              <a:t>Needle is your AI-powered political command centre.
Every grievance tracked. Every vote protected.</a:t>
            </a:r>
          </a:p>
        </p:txBody>
      </p:sp>
      <p:sp>
        <p:nvSpPr>
          <p:cNvPr id="18" name="TextBox 17"/>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926080" cy="32918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926080" cy="283464"/>
          </a:xfrm>
          <a:prstGeom prst="rect">
            <a:avLst/>
          </a:prstGeom>
          <a:noFill/>
        </p:spPr>
        <p:txBody>
          <a:bodyPr wrap="square">
            <a:spAutoFit/>
          </a:bodyPr>
          <a:lstStyle/>
          <a:p>
            <a:pPr algn="ctr"/>
            <a:r>
              <a:rPr sz="900" b="1" i="0">
                <a:solidFill>
                  <a:srgbClr val="07101E"/>
                </a:solidFill>
                <a:latin typeface="Calibri"/>
              </a:rPr>
              <a:t>WHY THIS MATTERS NOW</a:t>
            </a:r>
          </a:p>
        </p:txBody>
      </p:sp>
      <p:sp>
        <p:nvSpPr>
          <p:cNvPr id="6" name="TextBox 5"/>
          <p:cNvSpPr txBox="1"/>
          <p:nvPr/>
        </p:nvSpPr>
        <p:spPr>
          <a:xfrm>
            <a:off x="548640" y="685800"/>
            <a:ext cx="7772400" cy="1371600"/>
          </a:xfrm>
          <a:prstGeom prst="rect">
            <a:avLst/>
          </a:prstGeom>
          <a:noFill/>
        </p:spPr>
        <p:txBody>
          <a:bodyPr wrap="square">
            <a:spAutoFit/>
          </a:bodyPr>
          <a:lstStyle/>
          <a:p>
            <a:pPr algn="l"/>
            <a:r>
              <a:rPr sz="3800" b="1" i="0">
                <a:solidFill>
                  <a:srgbClr val="FFFFFF"/>
                </a:solidFill>
                <a:latin typeface="Calibri"/>
              </a:rPr>
              <a:t>Elections are won or lost in
the years between elections.</a:t>
            </a:r>
          </a:p>
        </p:txBody>
      </p:sp>
      <p:sp>
        <p:nvSpPr>
          <p:cNvPr id="7" name="Rectangle 6"/>
          <p:cNvSpPr/>
          <p:nvPr/>
        </p:nvSpPr>
        <p:spPr>
          <a:xfrm>
            <a:off x="548640" y="214884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331720"/>
            <a:ext cx="2560320" cy="219456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331720"/>
            <a:ext cx="2560320" cy="5486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496312"/>
            <a:ext cx="2560320" cy="822960"/>
          </a:xfrm>
          <a:prstGeom prst="rect">
            <a:avLst/>
          </a:prstGeom>
          <a:noFill/>
        </p:spPr>
        <p:txBody>
          <a:bodyPr wrap="square">
            <a:spAutoFit/>
          </a:bodyPr>
          <a:lstStyle/>
          <a:p>
            <a:pPr algn="ctr"/>
            <a:r>
              <a:rPr sz="4200" b="1" i="0">
                <a:solidFill>
                  <a:srgbClr val="FF7A00"/>
                </a:solidFill>
                <a:latin typeface="Calibri"/>
              </a:rPr>
              <a:t>67%</a:t>
            </a:r>
          </a:p>
        </p:txBody>
      </p:sp>
      <p:sp>
        <p:nvSpPr>
          <p:cNvPr id="11" name="TextBox 10"/>
          <p:cNvSpPr txBox="1"/>
          <p:nvPr/>
        </p:nvSpPr>
        <p:spPr>
          <a:xfrm>
            <a:off x="502920" y="3337560"/>
            <a:ext cx="2560320" cy="1005840"/>
          </a:xfrm>
          <a:prstGeom prst="rect">
            <a:avLst/>
          </a:prstGeom>
          <a:noFill/>
        </p:spPr>
        <p:txBody>
          <a:bodyPr wrap="square">
            <a:spAutoFit/>
          </a:bodyPr>
          <a:lstStyle/>
          <a:p>
            <a:pPr algn="ctr"/>
            <a:r>
              <a:rPr sz="1100" b="0" i="0">
                <a:solidFill>
                  <a:srgbClr val="D4E1ED"/>
                </a:solidFill>
                <a:latin typeface="Calibri"/>
              </a:rPr>
              <a:t>voter turnout in 2024
general election</a:t>
            </a:r>
          </a:p>
        </p:txBody>
      </p:sp>
      <p:sp>
        <p:nvSpPr>
          <p:cNvPr id="12" name="Rectangle 11"/>
          <p:cNvSpPr/>
          <p:nvPr/>
        </p:nvSpPr>
        <p:spPr>
          <a:xfrm>
            <a:off x="3337560" y="2331720"/>
            <a:ext cx="2560320" cy="219456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2331720"/>
            <a:ext cx="256032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496312"/>
            <a:ext cx="2560320" cy="822960"/>
          </a:xfrm>
          <a:prstGeom prst="rect">
            <a:avLst/>
          </a:prstGeom>
          <a:noFill/>
        </p:spPr>
        <p:txBody>
          <a:bodyPr wrap="square">
            <a:spAutoFit/>
          </a:bodyPr>
          <a:lstStyle/>
          <a:p>
            <a:pPr algn="ctr"/>
            <a:r>
              <a:rPr sz="4200" b="1" i="0">
                <a:solidFill>
                  <a:srgbClr val="F5C518"/>
                </a:solidFill>
                <a:latin typeface="Calibri"/>
              </a:rPr>
              <a:t>1.5L+</a:t>
            </a:r>
          </a:p>
        </p:txBody>
      </p:sp>
      <p:sp>
        <p:nvSpPr>
          <p:cNvPr id="15" name="TextBox 14"/>
          <p:cNvSpPr txBox="1"/>
          <p:nvPr/>
        </p:nvSpPr>
        <p:spPr>
          <a:xfrm>
            <a:off x="3337560" y="3337560"/>
            <a:ext cx="2560320" cy="1005840"/>
          </a:xfrm>
          <a:prstGeom prst="rect">
            <a:avLst/>
          </a:prstGeom>
          <a:noFill/>
        </p:spPr>
        <p:txBody>
          <a:bodyPr wrap="square">
            <a:spAutoFit/>
          </a:bodyPr>
          <a:lstStyle/>
          <a:p>
            <a:pPr algn="ctr"/>
            <a:r>
              <a:rPr sz="1100" b="0" i="0">
                <a:solidFill>
                  <a:srgbClr val="D4E1ED"/>
                </a:solidFill>
                <a:latin typeface="Calibri"/>
              </a:rPr>
              <a:t>average margin in a
competitive Lok Sabha seat</a:t>
            </a:r>
          </a:p>
        </p:txBody>
      </p:sp>
      <p:sp>
        <p:nvSpPr>
          <p:cNvPr id="16" name="Rectangle 15"/>
          <p:cNvSpPr/>
          <p:nvPr/>
        </p:nvSpPr>
        <p:spPr>
          <a:xfrm>
            <a:off x="6172200" y="2331720"/>
            <a:ext cx="2560320" cy="219456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2331720"/>
            <a:ext cx="2560320" cy="54864"/>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2496312"/>
            <a:ext cx="2560320" cy="822960"/>
          </a:xfrm>
          <a:prstGeom prst="rect">
            <a:avLst/>
          </a:prstGeom>
          <a:noFill/>
        </p:spPr>
        <p:txBody>
          <a:bodyPr wrap="square">
            <a:spAutoFit/>
          </a:bodyPr>
          <a:lstStyle/>
          <a:p>
            <a:pPr algn="ctr"/>
            <a:r>
              <a:rPr sz="4200" b="1" i="0">
                <a:solidFill>
                  <a:srgbClr val="0EB59A"/>
                </a:solidFill>
                <a:latin typeface="Calibri"/>
              </a:rPr>
              <a:t>2.4M</a:t>
            </a:r>
          </a:p>
        </p:txBody>
      </p:sp>
      <p:sp>
        <p:nvSpPr>
          <p:cNvPr id="19" name="TextBox 18"/>
          <p:cNvSpPr txBox="1"/>
          <p:nvPr/>
        </p:nvSpPr>
        <p:spPr>
          <a:xfrm>
            <a:off x="6172200" y="3337560"/>
            <a:ext cx="2560320" cy="1005840"/>
          </a:xfrm>
          <a:prstGeom prst="rect">
            <a:avLst/>
          </a:prstGeom>
          <a:noFill/>
        </p:spPr>
        <p:txBody>
          <a:bodyPr wrap="square">
            <a:spAutoFit/>
          </a:bodyPr>
          <a:lstStyle/>
          <a:p>
            <a:pPr algn="ctr"/>
            <a:r>
              <a:rPr sz="1100" b="0" i="0">
                <a:solidFill>
                  <a:srgbClr val="D4E1ED"/>
                </a:solidFill>
                <a:latin typeface="Calibri"/>
              </a:rPr>
              <a:t>people every MP
represents on average</a:t>
            </a:r>
          </a:p>
        </p:txBody>
      </p:sp>
      <p:sp>
        <p:nvSpPr>
          <p:cNvPr id="20" name="Rectangle 19"/>
          <p:cNvSpPr/>
          <p:nvPr/>
        </p:nvSpPr>
        <p:spPr>
          <a:xfrm>
            <a:off x="9006840" y="2331720"/>
            <a:ext cx="2560320" cy="219456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840" y="2331720"/>
            <a:ext cx="2560320" cy="54864"/>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06840" y="2496312"/>
            <a:ext cx="2560320" cy="822960"/>
          </a:xfrm>
          <a:prstGeom prst="rect">
            <a:avLst/>
          </a:prstGeom>
          <a:noFill/>
        </p:spPr>
        <p:txBody>
          <a:bodyPr wrap="square">
            <a:spAutoFit/>
          </a:bodyPr>
          <a:lstStyle/>
          <a:p>
            <a:pPr algn="ctr"/>
            <a:r>
              <a:rPr sz="4200" b="1" i="0">
                <a:solidFill>
                  <a:srgbClr val="138A3C"/>
                </a:solidFill>
                <a:latin typeface="Calibri"/>
              </a:rPr>
              <a:t>70%</a:t>
            </a:r>
          </a:p>
        </p:txBody>
      </p:sp>
      <p:sp>
        <p:nvSpPr>
          <p:cNvPr id="23" name="TextBox 22"/>
          <p:cNvSpPr txBox="1"/>
          <p:nvPr/>
        </p:nvSpPr>
        <p:spPr>
          <a:xfrm>
            <a:off x="9006840" y="3337560"/>
            <a:ext cx="2560320" cy="1005840"/>
          </a:xfrm>
          <a:prstGeom prst="rect">
            <a:avLst/>
          </a:prstGeom>
          <a:noFill/>
        </p:spPr>
        <p:txBody>
          <a:bodyPr wrap="square">
            <a:spAutoFit/>
          </a:bodyPr>
          <a:lstStyle/>
          <a:p>
            <a:pPr algn="ctr"/>
            <a:r>
              <a:rPr sz="1100" b="0" i="0">
                <a:solidFill>
                  <a:srgbClr val="D4E1ED"/>
                </a:solidFill>
                <a:latin typeface="Calibri"/>
              </a:rPr>
              <a:t>of voters say local
issues decide their vote</a:t>
            </a:r>
          </a:p>
        </p:txBody>
      </p:sp>
      <p:sp>
        <p:nvSpPr>
          <p:cNvPr id="24" name="Rectangle 23"/>
          <p:cNvSpPr/>
          <p:nvPr/>
        </p:nvSpPr>
        <p:spPr>
          <a:xfrm>
            <a:off x="457200" y="4709160"/>
            <a:ext cx="11274552" cy="1371600"/>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709160"/>
            <a:ext cx="64008" cy="13716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828032"/>
            <a:ext cx="1371600" cy="365760"/>
          </a:xfrm>
          <a:prstGeom prst="rect">
            <a:avLst/>
          </a:prstGeom>
          <a:noFill/>
        </p:spPr>
        <p:txBody>
          <a:bodyPr wrap="square">
            <a:spAutoFit/>
          </a:bodyPr>
          <a:lstStyle/>
          <a:p>
            <a:pPr algn="l"/>
            <a:r>
              <a:rPr sz="1000" b="1" i="0">
                <a:solidFill>
                  <a:srgbClr val="F5C518"/>
                </a:solidFill>
                <a:latin typeface="Calibri"/>
              </a:rPr>
              <a:t>The insight:</a:t>
            </a:r>
          </a:p>
        </p:txBody>
      </p:sp>
      <p:sp>
        <p:nvSpPr>
          <p:cNvPr id="27" name="TextBox 26"/>
          <p:cNvSpPr txBox="1"/>
          <p:nvPr/>
        </p:nvSpPr>
        <p:spPr>
          <a:xfrm>
            <a:off x="658368" y="5166360"/>
            <a:ext cx="10908792" cy="777240"/>
          </a:xfrm>
          <a:prstGeom prst="rect">
            <a:avLst/>
          </a:prstGeom>
          <a:noFill/>
        </p:spPr>
        <p:txBody>
          <a:bodyPr wrap="square">
            <a:spAutoFit/>
          </a:bodyPr>
          <a:lstStyle/>
          <a:p>
            <a:pPr algn="l"/>
            <a:r>
              <a:rPr sz="1100" b="0" i="0">
                <a:solidFill>
                  <a:srgbClr val="D4E1ED"/>
                </a:solidFill>
                <a:latin typeface="Calibri"/>
              </a:rPr>
              <a:t>Constituency responsiveness is the single most predictable indicator of re-election margin. MPs who track and resolve grievances publicly outperform those who don't — by 12–18 percentage points on satisfaction surveys. Satisfied voters turn out. Unsatisfied voters switch.</a:t>
            </a:r>
          </a:p>
        </p:txBody>
      </p:sp>
      <p:sp>
        <p:nvSpPr>
          <p:cNvPr id="28" name="TextBox 27"/>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560320" cy="329184"/>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560320" cy="283464"/>
          </a:xfrm>
          <a:prstGeom prst="rect">
            <a:avLst/>
          </a:prstGeom>
          <a:noFill/>
        </p:spPr>
        <p:txBody>
          <a:bodyPr wrap="square">
            <a:spAutoFit/>
          </a:bodyPr>
          <a:lstStyle/>
          <a:p>
            <a:pPr algn="ctr"/>
            <a:r>
              <a:rPr sz="900" b="1" i="0">
                <a:solidFill>
                  <a:srgbClr val="FFFFFF"/>
                </a:solidFill>
                <a:latin typeface="Calibri"/>
              </a:rPr>
              <a:t>THE REALITY CHECK</a:t>
            </a:r>
          </a:p>
        </p:txBody>
      </p:sp>
      <p:sp>
        <p:nvSpPr>
          <p:cNvPr id="6" name="TextBox 5"/>
          <p:cNvSpPr txBox="1"/>
          <p:nvPr/>
        </p:nvSpPr>
        <p:spPr>
          <a:xfrm>
            <a:off x="548640" y="685800"/>
            <a:ext cx="9144000" cy="1463040"/>
          </a:xfrm>
          <a:prstGeom prst="rect">
            <a:avLst/>
          </a:prstGeom>
          <a:noFill/>
        </p:spPr>
        <p:txBody>
          <a:bodyPr wrap="square">
            <a:spAutoFit/>
          </a:bodyPr>
          <a:lstStyle/>
          <a:p>
            <a:pPr algn="l"/>
            <a:r>
              <a:rPr sz="4200" b="1" i="0">
                <a:solidFill>
                  <a:srgbClr val="FFFFFF"/>
                </a:solidFill>
                <a:latin typeface="Calibri"/>
              </a:rPr>
              <a:t>You represent 2.4 million people.
With a team of 5.</a:t>
            </a:r>
          </a:p>
        </p:txBody>
      </p:sp>
      <p:sp>
        <p:nvSpPr>
          <p:cNvPr id="7" name="Rectangle 6"/>
          <p:cNvSpPr/>
          <p:nvPr/>
        </p:nvSpPr>
        <p:spPr>
          <a:xfrm>
            <a:off x="548640" y="22402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377440"/>
            <a:ext cx="5120640" cy="38404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77440"/>
            <a:ext cx="5120640" cy="457200"/>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50592"/>
            <a:ext cx="4937760" cy="329184"/>
          </a:xfrm>
          <a:prstGeom prst="rect">
            <a:avLst/>
          </a:prstGeom>
          <a:noFill/>
        </p:spPr>
        <p:txBody>
          <a:bodyPr wrap="square">
            <a:spAutoFit/>
          </a:bodyPr>
          <a:lstStyle/>
          <a:p>
            <a:pPr algn="l"/>
            <a:r>
              <a:rPr sz="1100" b="1" i="0">
                <a:solidFill>
                  <a:srgbClr val="FFFFFF"/>
                </a:solidFill>
                <a:latin typeface="Calibri"/>
              </a:rPr>
              <a:t>What arrives at your office every day</a:t>
            </a:r>
          </a:p>
        </p:txBody>
      </p:sp>
      <p:sp>
        <p:nvSpPr>
          <p:cNvPr id="11" name="TextBox 10"/>
          <p:cNvSpPr txBox="1"/>
          <p:nvPr/>
        </p:nvSpPr>
        <p:spPr>
          <a:xfrm>
            <a:off x="594360" y="2971800"/>
            <a:ext cx="914400" cy="365760"/>
          </a:xfrm>
          <a:prstGeom prst="rect">
            <a:avLst/>
          </a:prstGeom>
          <a:noFill/>
        </p:spPr>
        <p:txBody>
          <a:bodyPr wrap="square">
            <a:spAutoFit/>
          </a:bodyPr>
          <a:lstStyle/>
          <a:p>
            <a:pPr algn="l"/>
            <a:r>
              <a:rPr sz="1300" b="1" i="0">
                <a:solidFill>
                  <a:srgbClr val="E03030"/>
                </a:solidFill>
                <a:latin typeface="Calibri"/>
              </a:rPr>
              <a:t>30–100</a:t>
            </a:r>
          </a:p>
        </p:txBody>
      </p:sp>
      <p:sp>
        <p:nvSpPr>
          <p:cNvPr id="12" name="TextBox 11"/>
          <p:cNvSpPr txBox="1"/>
          <p:nvPr/>
        </p:nvSpPr>
        <p:spPr>
          <a:xfrm>
            <a:off x="1554480" y="2971800"/>
            <a:ext cx="3840480" cy="347472"/>
          </a:xfrm>
          <a:prstGeom prst="rect">
            <a:avLst/>
          </a:prstGeom>
          <a:noFill/>
        </p:spPr>
        <p:txBody>
          <a:bodyPr wrap="square">
            <a:spAutoFit/>
          </a:bodyPr>
          <a:lstStyle/>
          <a:p>
            <a:pPr algn="l"/>
            <a:r>
              <a:rPr sz="1100" b="0" i="0">
                <a:solidFill>
                  <a:srgbClr val="D4E1ED"/>
                </a:solidFill>
                <a:latin typeface="Calibri"/>
              </a:rPr>
              <a:t>WhatsApp messages from constituents</a:t>
            </a:r>
          </a:p>
        </p:txBody>
      </p:sp>
      <p:sp>
        <p:nvSpPr>
          <p:cNvPr id="13" name="TextBox 12"/>
          <p:cNvSpPr txBox="1"/>
          <p:nvPr/>
        </p:nvSpPr>
        <p:spPr>
          <a:xfrm>
            <a:off x="594360" y="3447288"/>
            <a:ext cx="914400" cy="365760"/>
          </a:xfrm>
          <a:prstGeom prst="rect">
            <a:avLst/>
          </a:prstGeom>
          <a:noFill/>
        </p:spPr>
        <p:txBody>
          <a:bodyPr wrap="square">
            <a:spAutoFit/>
          </a:bodyPr>
          <a:lstStyle/>
          <a:p>
            <a:pPr algn="l"/>
            <a:r>
              <a:rPr sz="1300" b="1" i="0">
                <a:solidFill>
                  <a:srgbClr val="E03030"/>
                </a:solidFill>
                <a:latin typeface="Calibri"/>
              </a:rPr>
              <a:t>20–50</a:t>
            </a:r>
          </a:p>
        </p:txBody>
      </p:sp>
      <p:sp>
        <p:nvSpPr>
          <p:cNvPr id="14" name="TextBox 13"/>
          <p:cNvSpPr txBox="1"/>
          <p:nvPr/>
        </p:nvSpPr>
        <p:spPr>
          <a:xfrm>
            <a:off x="1554480" y="3447288"/>
            <a:ext cx="3840480" cy="347472"/>
          </a:xfrm>
          <a:prstGeom prst="rect">
            <a:avLst/>
          </a:prstGeom>
          <a:noFill/>
        </p:spPr>
        <p:txBody>
          <a:bodyPr wrap="square">
            <a:spAutoFit/>
          </a:bodyPr>
          <a:lstStyle/>
          <a:p>
            <a:pPr algn="l"/>
            <a:r>
              <a:rPr sz="1100" b="0" i="0">
                <a:solidFill>
                  <a:srgbClr val="D4E1ED"/>
                </a:solidFill>
                <a:latin typeface="Calibri"/>
              </a:rPr>
              <a:t>Letters and applications</a:t>
            </a:r>
          </a:p>
        </p:txBody>
      </p:sp>
      <p:sp>
        <p:nvSpPr>
          <p:cNvPr id="15" name="TextBox 14"/>
          <p:cNvSpPr txBox="1"/>
          <p:nvPr/>
        </p:nvSpPr>
        <p:spPr>
          <a:xfrm>
            <a:off x="594360" y="3922776"/>
            <a:ext cx="914400" cy="365760"/>
          </a:xfrm>
          <a:prstGeom prst="rect">
            <a:avLst/>
          </a:prstGeom>
          <a:noFill/>
        </p:spPr>
        <p:txBody>
          <a:bodyPr wrap="square">
            <a:spAutoFit/>
          </a:bodyPr>
          <a:lstStyle/>
          <a:p>
            <a:pPr algn="l"/>
            <a:r>
              <a:rPr sz="1300" b="1" i="0">
                <a:solidFill>
                  <a:srgbClr val="E03030"/>
                </a:solidFill>
                <a:latin typeface="Calibri"/>
              </a:rPr>
              <a:t>10–30</a:t>
            </a:r>
          </a:p>
        </p:txBody>
      </p:sp>
      <p:sp>
        <p:nvSpPr>
          <p:cNvPr id="16" name="TextBox 15"/>
          <p:cNvSpPr txBox="1"/>
          <p:nvPr/>
        </p:nvSpPr>
        <p:spPr>
          <a:xfrm>
            <a:off x="1554480" y="3922776"/>
            <a:ext cx="3840480" cy="347472"/>
          </a:xfrm>
          <a:prstGeom prst="rect">
            <a:avLst/>
          </a:prstGeom>
          <a:noFill/>
        </p:spPr>
        <p:txBody>
          <a:bodyPr wrap="square">
            <a:spAutoFit/>
          </a:bodyPr>
          <a:lstStyle/>
          <a:p>
            <a:pPr algn="l"/>
            <a:r>
              <a:rPr sz="1100" b="0" i="0">
                <a:solidFill>
                  <a:srgbClr val="D4E1ED"/>
                </a:solidFill>
                <a:latin typeface="Calibri"/>
              </a:rPr>
              <a:t>Phone calls your PA can't pick up</a:t>
            </a:r>
          </a:p>
        </p:txBody>
      </p:sp>
      <p:sp>
        <p:nvSpPr>
          <p:cNvPr id="17" name="TextBox 16"/>
          <p:cNvSpPr txBox="1"/>
          <p:nvPr/>
        </p:nvSpPr>
        <p:spPr>
          <a:xfrm>
            <a:off x="594360" y="4398264"/>
            <a:ext cx="914400" cy="365760"/>
          </a:xfrm>
          <a:prstGeom prst="rect">
            <a:avLst/>
          </a:prstGeom>
          <a:noFill/>
        </p:spPr>
        <p:txBody>
          <a:bodyPr wrap="square">
            <a:spAutoFit/>
          </a:bodyPr>
          <a:lstStyle/>
          <a:p>
            <a:pPr algn="l"/>
            <a:r>
              <a:rPr sz="1300" b="1" i="0">
                <a:solidFill>
                  <a:srgbClr val="E03030"/>
                </a:solidFill>
                <a:latin typeface="Calibri"/>
              </a:rPr>
              <a:t>5–15</a:t>
            </a:r>
          </a:p>
        </p:txBody>
      </p:sp>
      <p:sp>
        <p:nvSpPr>
          <p:cNvPr id="18" name="TextBox 17"/>
          <p:cNvSpPr txBox="1"/>
          <p:nvPr/>
        </p:nvSpPr>
        <p:spPr>
          <a:xfrm>
            <a:off x="1554480" y="4398264"/>
            <a:ext cx="3840480" cy="347472"/>
          </a:xfrm>
          <a:prstGeom prst="rect">
            <a:avLst/>
          </a:prstGeom>
          <a:noFill/>
        </p:spPr>
        <p:txBody>
          <a:bodyPr wrap="square">
            <a:spAutoFit/>
          </a:bodyPr>
          <a:lstStyle/>
          <a:p>
            <a:pPr algn="l"/>
            <a:r>
              <a:rPr sz="1100" b="0" i="0">
                <a:solidFill>
                  <a:srgbClr val="D4E1ED"/>
                </a:solidFill>
                <a:latin typeface="Calibri"/>
              </a:rPr>
              <a:t>Walk-ins waiting at your office</a:t>
            </a:r>
          </a:p>
        </p:txBody>
      </p:sp>
      <p:sp>
        <p:nvSpPr>
          <p:cNvPr id="19" name="TextBox 18"/>
          <p:cNvSpPr txBox="1"/>
          <p:nvPr/>
        </p:nvSpPr>
        <p:spPr>
          <a:xfrm>
            <a:off x="594360" y="4873752"/>
            <a:ext cx="914400" cy="365760"/>
          </a:xfrm>
          <a:prstGeom prst="rect">
            <a:avLst/>
          </a:prstGeom>
          <a:noFill/>
        </p:spPr>
        <p:txBody>
          <a:bodyPr wrap="square">
            <a:spAutoFit/>
          </a:bodyPr>
          <a:lstStyle/>
          <a:p>
            <a:pPr algn="l"/>
            <a:r>
              <a:rPr sz="1300" b="1" i="0">
                <a:solidFill>
                  <a:srgbClr val="E03030"/>
                </a:solidFill>
                <a:latin typeface="Calibri"/>
              </a:rPr>
              <a:t>3–10</a:t>
            </a:r>
          </a:p>
        </p:txBody>
      </p:sp>
      <p:sp>
        <p:nvSpPr>
          <p:cNvPr id="20" name="TextBox 19"/>
          <p:cNvSpPr txBox="1"/>
          <p:nvPr/>
        </p:nvSpPr>
        <p:spPr>
          <a:xfrm>
            <a:off x="1554480" y="4873752"/>
            <a:ext cx="3840480" cy="347472"/>
          </a:xfrm>
          <a:prstGeom prst="rect">
            <a:avLst/>
          </a:prstGeom>
          <a:noFill/>
        </p:spPr>
        <p:txBody>
          <a:bodyPr wrap="square">
            <a:spAutoFit/>
          </a:bodyPr>
          <a:lstStyle/>
          <a:p>
            <a:pPr algn="l"/>
            <a:r>
              <a:rPr sz="1100" b="0" i="0">
                <a:solidFill>
                  <a:srgbClr val="D4E1ED"/>
                </a:solidFill>
                <a:latin typeface="Calibri"/>
              </a:rPr>
              <a:t>Referrals forwarded by party workers</a:t>
            </a:r>
          </a:p>
        </p:txBody>
      </p:sp>
      <p:sp>
        <p:nvSpPr>
          <p:cNvPr id="21" name="TextBox 20"/>
          <p:cNvSpPr txBox="1"/>
          <p:nvPr/>
        </p:nvSpPr>
        <p:spPr>
          <a:xfrm>
            <a:off x="594360" y="5349240"/>
            <a:ext cx="914400" cy="365760"/>
          </a:xfrm>
          <a:prstGeom prst="rect">
            <a:avLst/>
          </a:prstGeom>
          <a:noFill/>
        </p:spPr>
        <p:txBody>
          <a:bodyPr wrap="square">
            <a:spAutoFit/>
          </a:bodyPr>
          <a:lstStyle/>
          <a:p>
            <a:pPr algn="l"/>
            <a:r>
              <a:rPr sz="1300" b="1" i="0">
                <a:solidFill>
                  <a:srgbClr val="E03030"/>
                </a:solidFill>
                <a:latin typeface="Calibri"/>
              </a:rPr>
              <a:t>Countless</a:t>
            </a:r>
          </a:p>
        </p:txBody>
      </p:sp>
      <p:sp>
        <p:nvSpPr>
          <p:cNvPr id="22" name="TextBox 21"/>
          <p:cNvSpPr txBox="1"/>
          <p:nvPr/>
        </p:nvSpPr>
        <p:spPr>
          <a:xfrm>
            <a:off x="1554480" y="5349240"/>
            <a:ext cx="3840480" cy="347472"/>
          </a:xfrm>
          <a:prstGeom prst="rect">
            <a:avLst/>
          </a:prstGeom>
          <a:noFill/>
        </p:spPr>
        <p:txBody>
          <a:bodyPr wrap="square">
            <a:spAutoFit/>
          </a:bodyPr>
          <a:lstStyle/>
          <a:p>
            <a:pPr algn="l"/>
            <a:r>
              <a:rPr sz="1100" b="0" i="0">
                <a:solidFill>
                  <a:srgbClr val="D4E1ED"/>
                </a:solidFill>
                <a:latin typeface="Calibri"/>
              </a:rPr>
              <a:t>Social media tags and comments</a:t>
            </a:r>
          </a:p>
        </p:txBody>
      </p:sp>
      <p:sp>
        <p:nvSpPr>
          <p:cNvPr id="23" name="Rectangle 22"/>
          <p:cNvSpPr/>
          <p:nvPr/>
        </p:nvSpPr>
        <p:spPr>
          <a:xfrm>
            <a:off x="6035040" y="2377440"/>
            <a:ext cx="5120640" cy="38404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35040" y="2377440"/>
            <a:ext cx="5120640" cy="457200"/>
          </a:xfrm>
          <a:prstGeom prst="rect">
            <a:avLst/>
          </a:prstGeom>
          <a:solidFill>
            <a:srgbClr val="803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0" y="2450592"/>
            <a:ext cx="4937760" cy="329184"/>
          </a:xfrm>
          <a:prstGeom prst="rect">
            <a:avLst/>
          </a:prstGeom>
          <a:noFill/>
        </p:spPr>
        <p:txBody>
          <a:bodyPr wrap="square">
            <a:spAutoFit/>
          </a:bodyPr>
          <a:lstStyle/>
          <a:p>
            <a:pPr algn="l"/>
            <a:r>
              <a:rPr sz="1100" b="1" i="0">
                <a:solidFill>
                  <a:srgbClr val="FFFFFF"/>
                </a:solidFill>
                <a:latin typeface="Calibri"/>
              </a:rPr>
              <a:t>What actually happens to most of it</a:t>
            </a:r>
          </a:p>
        </p:txBody>
      </p:sp>
      <p:sp>
        <p:nvSpPr>
          <p:cNvPr id="26" name="TextBox 25"/>
          <p:cNvSpPr txBox="1"/>
          <p:nvPr/>
        </p:nvSpPr>
        <p:spPr>
          <a:xfrm>
            <a:off x="6172200" y="2971800"/>
            <a:ext cx="1463040" cy="365760"/>
          </a:xfrm>
          <a:prstGeom prst="rect">
            <a:avLst/>
          </a:prstGeom>
          <a:noFill/>
        </p:spPr>
        <p:txBody>
          <a:bodyPr wrap="square">
            <a:spAutoFit/>
          </a:bodyPr>
          <a:lstStyle/>
          <a:p>
            <a:pPr algn="l"/>
            <a:r>
              <a:rPr sz="1200" b="1" i="0">
                <a:solidFill>
                  <a:srgbClr val="FF8855"/>
                </a:solidFill>
                <a:latin typeface="Calibri"/>
              </a:rPr>
              <a:t>Forgotten</a:t>
            </a:r>
          </a:p>
        </p:txBody>
      </p:sp>
      <p:sp>
        <p:nvSpPr>
          <p:cNvPr id="27" name="TextBox 26"/>
          <p:cNvSpPr txBox="1"/>
          <p:nvPr/>
        </p:nvSpPr>
        <p:spPr>
          <a:xfrm>
            <a:off x="7726680" y="2971800"/>
            <a:ext cx="4114800" cy="347472"/>
          </a:xfrm>
          <a:prstGeom prst="rect">
            <a:avLst/>
          </a:prstGeom>
          <a:noFill/>
        </p:spPr>
        <p:txBody>
          <a:bodyPr wrap="square">
            <a:spAutoFit/>
          </a:bodyPr>
          <a:lstStyle/>
          <a:p>
            <a:pPr algn="l"/>
            <a:r>
              <a:rPr sz="1100" b="0" i="0">
                <a:solidFill>
                  <a:srgbClr val="D4E1ED"/>
                </a:solidFill>
                <a:latin typeface="Calibri"/>
              </a:rPr>
              <a:t>in a WhatsApp thread no one revisits</a:t>
            </a:r>
          </a:p>
        </p:txBody>
      </p:sp>
      <p:sp>
        <p:nvSpPr>
          <p:cNvPr id="28" name="TextBox 27"/>
          <p:cNvSpPr txBox="1"/>
          <p:nvPr/>
        </p:nvSpPr>
        <p:spPr>
          <a:xfrm>
            <a:off x="6172200" y="3447288"/>
            <a:ext cx="1463040" cy="365760"/>
          </a:xfrm>
          <a:prstGeom prst="rect">
            <a:avLst/>
          </a:prstGeom>
          <a:noFill/>
        </p:spPr>
        <p:txBody>
          <a:bodyPr wrap="square">
            <a:spAutoFit/>
          </a:bodyPr>
          <a:lstStyle/>
          <a:p>
            <a:pPr algn="l"/>
            <a:r>
              <a:rPr sz="1200" b="1" i="0">
                <a:solidFill>
                  <a:srgbClr val="FF8855"/>
                </a:solidFill>
                <a:latin typeface="Calibri"/>
              </a:rPr>
              <a:t>Mis-routed</a:t>
            </a:r>
          </a:p>
        </p:txBody>
      </p:sp>
      <p:sp>
        <p:nvSpPr>
          <p:cNvPr id="29" name="TextBox 28"/>
          <p:cNvSpPr txBox="1"/>
          <p:nvPr/>
        </p:nvSpPr>
        <p:spPr>
          <a:xfrm>
            <a:off x="7726680" y="3447288"/>
            <a:ext cx="4114800" cy="347472"/>
          </a:xfrm>
          <a:prstGeom prst="rect">
            <a:avLst/>
          </a:prstGeom>
          <a:noFill/>
        </p:spPr>
        <p:txBody>
          <a:bodyPr wrap="square">
            <a:spAutoFit/>
          </a:bodyPr>
          <a:lstStyle/>
          <a:p>
            <a:pPr algn="l"/>
            <a:r>
              <a:rPr sz="1100" b="0" i="0">
                <a:solidFill>
                  <a:srgbClr val="D4E1ED"/>
                </a:solidFill>
                <a:latin typeface="Calibri"/>
              </a:rPr>
              <a:t>to the wrong department or constituency</a:t>
            </a:r>
          </a:p>
        </p:txBody>
      </p:sp>
      <p:sp>
        <p:nvSpPr>
          <p:cNvPr id="30" name="TextBox 29"/>
          <p:cNvSpPr txBox="1"/>
          <p:nvPr/>
        </p:nvSpPr>
        <p:spPr>
          <a:xfrm>
            <a:off x="6172200" y="3922776"/>
            <a:ext cx="1463040" cy="365760"/>
          </a:xfrm>
          <a:prstGeom prst="rect">
            <a:avLst/>
          </a:prstGeom>
          <a:noFill/>
        </p:spPr>
        <p:txBody>
          <a:bodyPr wrap="square">
            <a:spAutoFit/>
          </a:bodyPr>
          <a:lstStyle/>
          <a:p>
            <a:pPr algn="l"/>
            <a:r>
              <a:rPr sz="1200" b="1" i="0">
                <a:solidFill>
                  <a:srgbClr val="FF8855"/>
                </a:solidFill>
                <a:latin typeface="Calibri"/>
              </a:rPr>
              <a:t>Duplicated</a:t>
            </a:r>
          </a:p>
        </p:txBody>
      </p:sp>
      <p:sp>
        <p:nvSpPr>
          <p:cNvPr id="31" name="TextBox 30"/>
          <p:cNvSpPr txBox="1"/>
          <p:nvPr/>
        </p:nvSpPr>
        <p:spPr>
          <a:xfrm>
            <a:off x="7726680" y="3922776"/>
            <a:ext cx="4114800" cy="347472"/>
          </a:xfrm>
          <a:prstGeom prst="rect">
            <a:avLst/>
          </a:prstGeom>
          <a:noFill/>
        </p:spPr>
        <p:txBody>
          <a:bodyPr wrap="square">
            <a:spAutoFit/>
          </a:bodyPr>
          <a:lstStyle/>
          <a:p>
            <a:pPr algn="l"/>
            <a:r>
              <a:rPr sz="1100" b="0" i="0">
                <a:solidFill>
                  <a:srgbClr val="D4E1ED"/>
                </a:solidFill>
                <a:latin typeface="Calibri"/>
              </a:rPr>
              <a:t>same complaint filed 3x by the same family</a:t>
            </a:r>
          </a:p>
        </p:txBody>
      </p:sp>
      <p:sp>
        <p:nvSpPr>
          <p:cNvPr id="32" name="TextBox 31"/>
          <p:cNvSpPr txBox="1"/>
          <p:nvPr/>
        </p:nvSpPr>
        <p:spPr>
          <a:xfrm>
            <a:off x="6172200" y="4398264"/>
            <a:ext cx="1463040" cy="365760"/>
          </a:xfrm>
          <a:prstGeom prst="rect">
            <a:avLst/>
          </a:prstGeom>
          <a:noFill/>
        </p:spPr>
        <p:txBody>
          <a:bodyPr wrap="square">
            <a:spAutoFit/>
          </a:bodyPr>
          <a:lstStyle/>
          <a:p>
            <a:pPr algn="l"/>
            <a:r>
              <a:rPr sz="1200" b="1" i="0">
                <a:solidFill>
                  <a:srgbClr val="FF8855"/>
                </a:solidFill>
                <a:latin typeface="Calibri"/>
              </a:rPr>
              <a:t>Untracked</a:t>
            </a:r>
          </a:p>
        </p:txBody>
      </p:sp>
      <p:sp>
        <p:nvSpPr>
          <p:cNvPr id="33" name="TextBox 32"/>
          <p:cNvSpPr txBox="1"/>
          <p:nvPr/>
        </p:nvSpPr>
        <p:spPr>
          <a:xfrm>
            <a:off x="7726680" y="4398264"/>
            <a:ext cx="4114800" cy="347472"/>
          </a:xfrm>
          <a:prstGeom prst="rect">
            <a:avLst/>
          </a:prstGeom>
          <a:noFill/>
        </p:spPr>
        <p:txBody>
          <a:bodyPr wrap="square">
            <a:spAutoFit/>
          </a:bodyPr>
          <a:lstStyle/>
          <a:p>
            <a:pPr algn="l"/>
            <a:r>
              <a:rPr sz="1100" b="0" i="0">
                <a:solidFill>
                  <a:srgbClr val="D4E1ED"/>
                </a:solidFill>
                <a:latin typeface="Calibri"/>
              </a:rPr>
              <a:t>no follow-up, no resolution date, no record</a:t>
            </a:r>
          </a:p>
        </p:txBody>
      </p:sp>
      <p:sp>
        <p:nvSpPr>
          <p:cNvPr id="34" name="TextBox 33"/>
          <p:cNvSpPr txBox="1"/>
          <p:nvPr/>
        </p:nvSpPr>
        <p:spPr>
          <a:xfrm>
            <a:off x="6172200" y="4873752"/>
            <a:ext cx="1463040" cy="365760"/>
          </a:xfrm>
          <a:prstGeom prst="rect">
            <a:avLst/>
          </a:prstGeom>
          <a:noFill/>
        </p:spPr>
        <p:txBody>
          <a:bodyPr wrap="square">
            <a:spAutoFit/>
          </a:bodyPr>
          <a:lstStyle/>
          <a:p>
            <a:pPr algn="l"/>
            <a:r>
              <a:rPr sz="1200" b="1" i="0">
                <a:solidFill>
                  <a:srgbClr val="FF8855"/>
                </a:solidFill>
                <a:latin typeface="Calibri"/>
              </a:rPr>
              <a:t>Politically costly</a:t>
            </a:r>
          </a:p>
        </p:txBody>
      </p:sp>
      <p:sp>
        <p:nvSpPr>
          <p:cNvPr id="35" name="TextBox 34"/>
          <p:cNvSpPr txBox="1"/>
          <p:nvPr/>
        </p:nvSpPr>
        <p:spPr>
          <a:xfrm>
            <a:off x="7726680" y="4873752"/>
            <a:ext cx="4114800" cy="347472"/>
          </a:xfrm>
          <a:prstGeom prst="rect">
            <a:avLst/>
          </a:prstGeom>
          <a:noFill/>
        </p:spPr>
        <p:txBody>
          <a:bodyPr wrap="square">
            <a:spAutoFit/>
          </a:bodyPr>
          <a:lstStyle/>
          <a:p>
            <a:pPr algn="l"/>
            <a:r>
              <a:rPr sz="1100" b="0" i="0">
                <a:solidFill>
                  <a:srgbClr val="D4E1ED"/>
                </a:solidFill>
                <a:latin typeface="Calibri"/>
              </a:rPr>
              <a:t>constituent tells 10 neighbours you ignored them</a:t>
            </a:r>
          </a:p>
        </p:txBody>
      </p:sp>
      <p:sp>
        <p:nvSpPr>
          <p:cNvPr id="36" name="TextBox 35"/>
          <p:cNvSpPr txBox="1"/>
          <p:nvPr/>
        </p:nvSpPr>
        <p:spPr>
          <a:xfrm>
            <a:off x="6172200" y="5349240"/>
            <a:ext cx="1463040" cy="365760"/>
          </a:xfrm>
          <a:prstGeom prst="rect">
            <a:avLst/>
          </a:prstGeom>
          <a:noFill/>
        </p:spPr>
        <p:txBody>
          <a:bodyPr wrap="square">
            <a:spAutoFit/>
          </a:bodyPr>
          <a:lstStyle/>
          <a:p>
            <a:pPr algn="l"/>
            <a:r>
              <a:rPr sz="1200" b="1" i="0">
                <a:solidFill>
                  <a:srgbClr val="FF8855"/>
                </a:solidFill>
                <a:latin typeface="Calibri"/>
              </a:rPr>
              <a:t>Lost forever</a:t>
            </a:r>
          </a:p>
        </p:txBody>
      </p:sp>
      <p:sp>
        <p:nvSpPr>
          <p:cNvPr id="37" name="TextBox 36"/>
          <p:cNvSpPr txBox="1"/>
          <p:nvPr/>
        </p:nvSpPr>
        <p:spPr>
          <a:xfrm>
            <a:off x="7726680" y="5349240"/>
            <a:ext cx="4114800" cy="347472"/>
          </a:xfrm>
          <a:prstGeom prst="rect">
            <a:avLst/>
          </a:prstGeom>
          <a:noFill/>
        </p:spPr>
        <p:txBody>
          <a:bodyPr wrap="square">
            <a:spAutoFit/>
          </a:bodyPr>
          <a:lstStyle/>
          <a:p>
            <a:pPr algn="l"/>
            <a:r>
              <a:rPr sz="1100" b="0" i="0">
                <a:solidFill>
                  <a:srgbClr val="D4E1ED"/>
                </a:solidFill>
                <a:latin typeface="Calibri"/>
              </a:rPr>
              <a:t>when your PA changes</a:t>
            </a:r>
          </a:p>
        </p:txBody>
      </p:sp>
      <p:sp>
        <p:nvSpPr>
          <p:cNvPr id="38" name="TextBox 37"/>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926080" cy="32918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926080" cy="283464"/>
          </a:xfrm>
          <a:prstGeom prst="rect">
            <a:avLst/>
          </a:prstGeom>
          <a:noFill/>
        </p:spPr>
        <p:txBody>
          <a:bodyPr wrap="square">
            <a:spAutoFit/>
          </a:bodyPr>
          <a:lstStyle/>
          <a:p>
            <a:pPr algn="ctr"/>
            <a:r>
              <a:rPr sz="900" b="1" i="0">
                <a:solidFill>
                  <a:srgbClr val="07101E"/>
                </a:solidFill>
                <a:latin typeface="Calibri"/>
              </a:rPr>
              <a:t>THE CONSTITUENT JOURNEY</a:t>
            </a:r>
          </a:p>
        </p:txBody>
      </p:sp>
      <p:sp>
        <p:nvSpPr>
          <p:cNvPr id="6" name="TextBox 5"/>
          <p:cNvSpPr txBox="1"/>
          <p:nvPr/>
        </p:nvSpPr>
        <p:spPr>
          <a:xfrm>
            <a:off x="548640" y="685800"/>
            <a:ext cx="9144000" cy="1280160"/>
          </a:xfrm>
          <a:prstGeom prst="rect">
            <a:avLst/>
          </a:prstGeom>
          <a:noFill/>
        </p:spPr>
        <p:txBody>
          <a:bodyPr wrap="square">
            <a:spAutoFit/>
          </a:bodyPr>
          <a:lstStyle/>
          <a:p>
            <a:pPr algn="l"/>
            <a:r>
              <a:rPr sz="3800" b="1" i="0">
                <a:solidFill>
                  <a:srgbClr val="FFFFFF"/>
                </a:solidFill>
                <a:latin typeface="Calibri"/>
              </a:rPr>
              <a:t>Ramesh in Nagpur has one problem.
He just wants it fixed.</a:t>
            </a:r>
          </a:p>
        </p:txBody>
      </p:sp>
      <p:sp>
        <p:nvSpPr>
          <p:cNvPr id="7" name="Rectangle 6"/>
          <p:cNvSpPr/>
          <p:nvPr/>
        </p:nvSpPr>
        <p:spPr>
          <a:xfrm>
            <a:off x="548640" y="20116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2148840"/>
            <a:ext cx="2103120" cy="34747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2148840"/>
            <a:ext cx="2103120" cy="5486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2258568"/>
            <a:ext cx="2103120" cy="411480"/>
          </a:xfrm>
          <a:prstGeom prst="rect">
            <a:avLst/>
          </a:prstGeom>
          <a:noFill/>
        </p:spPr>
        <p:txBody>
          <a:bodyPr wrap="square">
            <a:spAutoFit/>
          </a:bodyPr>
          <a:lstStyle/>
          <a:p>
            <a:pPr algn="ctr"/>
            <a:r>
              <a:rPr sz="1800" b="1" i="0">
                <a:solidFill>
                  <a:srgbClr val="FF7A00"/>
                </a:solidFill>
                <a:latin typeface="Calibri"/>
              </a:rPr>
              <a:t>1</a:t>
            </a:r>
          </a:p>
        </p:txBody>
      </p:sp>
      <p:sp>
        <p:nvSpPr>
          <p:cNvPr id="11" name="TextBox 10"/>
          <p:cNvSpPr txBox="1"/>
          <p:nvPr/>
        </p:nvSpPr>
        <p:spPr>
          <a:xfrm>
            <a:off x="411480" y="2651760"/>
            <a:ext cx="2103120" cy="411480"/>
          </a:xfrm>
          <a:prstGeom prst="rect">
            <a:avLst/>
          </a:prstGeom>
          <a:noFill/>
        </p:spPr>
        <p:txBody>
          <a:bodyPr wrap="square">
            <a:spAutoFit/>
          </a:bodyPr>
          <a:lstStyle/>
          <a:p>
            <a:pPr algn="ctr"/>
            <a:r>
              <a:rPr sz="1200" b="1" i="0">
                <a:solidFill>
                  <a:srgbClr val="FFFFFF"/>
                </a:solidFill>
                <a:latin typeface="Calibri"/>
              </a:rPr>
              <a:t>The Problem</a:t>
            </a:r>
          </a:p>
        </p:txBody>
      </p:sp>
      <p:sp>
        <p:nvSpPr>
          <p:cNvPr id="12" name="TextBox 11"/>
          <p:cNvSpPr txBox="1"/>
          <p:nvPr/>
        </p:nvSpPr>
        <p:spPr>
          <a:xfrm>
            <a:off x="502920" y="3154680"/>
            <a:ext cx="1920240" cy="2286000"/>
          </a:xfrm>
          <a:prstGeom prst="rect">
            <a:avLst/>
          </a:prstGeom>
          <a:noFill/>
        </p:spPr>
        <p:txBody>
          <a:bodyPr wrap="square">
            <a:spAutoFit/>
          </a:bodyPr>
          <a:lstStyle/>
          <a:p>
            <a:pPr algn="l"/>
            <a:r>
              <a:rPr sz="900" b="0" i="0">
                <a:solidFill>
                  <a:srgbClr val="D4E1ED"/>
                </a:solidFill>
                <a:latin typeface="Calibri"/>
              </a:rPr>
              <a:t>Ramesh's street has had no streetlight for 8 months. His daughter walks home from tuition in the dark. He has complained to the municipality 3 times. Nothing happened.</a:t>
            </a:r>
          </a:p>
        </p:txBody>
      </p:sp>
      <p:sp>
        <p:nvSpPr>
          <p:cNvPr id="13" name="Rectangle 12"/>
          <p:cNvSpPr/>
          <p:nvPr/>
        </p:nvSpPr>
        <p:spPr>
          <a:xfrm>
            <a:off x="2697480" y="2148840"/>
            <a:ext cx="2103120" cy="34747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7480" y="2148840"/>
            <a:ext cx="210312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80" y="2258568"/>
            <a:ext cx="2103120" cy="411480"/>
          </a:xfrm>
          <a:prstGeom prst="rect">
            <a:avLst/>
          </a:prstGeom>
          <a:noFill/>
        </p:spPr>
        <p:txBody>
          <a:bodyPr wrap="square">
            <a:spAutoFit/>
          </a:bodyPr>
          <a:lstStyle/>
          <a:p>
            <a:pPr algn="ctr"/>
            <a:r>
              <a:rPr sz="1800" b="1" i="0">
                <a:solidFill>
                  <a:srgbClr val="F5C518"/>
                </a:solidFill>
                <a:latin typeface="Calibri"/>
              </a:rPr>
              <a:t>2</a:t>
            </a:r>
          </a:p>
        </p:txBody>
      </p:sp>
      <p:sp>
        <p:nvSpPr>
          <p:cNvPr id="16" name="TextBox 15"/>
          <p:cNvSpPr txBox="1"/>
          <p:nvPr/>
        </p:nvSpPr>
        <p:spPr>
          <a:xfrm>
            <a:off x="2697480" y="2651760"/>
            <a:ext cx="2103120" cy="411480"/>
          </a:xfrm>
          <a:prstGeom prst="rect">
            <a:avLst/>
          </a:prstGeom>
          <a:noFill/>
        </p:spPr>
        <p:txBody>
          <a:bodyPr wrap="square">
            <a:spAutoFit/>
          </a:bodyPr>
          <a:lstStyle/>
          <a:p>
            <a:pPr algn="ctr"/>
            <a:r>
              <a:rPr sz="1200" b="1" i="0">
                <a:solidFill>
                  <a:srgbClr val="FFFFFF"/>
                </a:solidFill>
                <a:latin typeface="Calibri"/>
              </a:rPr>
              <a:t>He Finds You</a:t>
            </a:r>
          </a:p>
        </p:txBody>
      </p:sp>
      <p:sp>
        <p:nvSpPr>
          <p:cNvPr id="17" name="TextBox 16"/>
          <p:cNvSpPr txBox="1"/>
          <p:nvPr/>
        </p:nvSpPr>
        <p:spPr>
          <a:xfrm>
            <a:off x="2788920" y="3154680"/>
            <a:ext cx="1920240" cy="2286000"/>
          </a:xfrm>
          <a:prstGeom prst="rect">
            <a:avLst/>
          </a:prstGeom>
          <a:noFill/>
        </p:spPr>
        <p:txBody>
          <a:bodyPr wrap="square">
            <a:spAutoFit/>
          </a:bodyPr>
          <a:lstStyle/>
          <a:p>
            <a:pPr algn="l"/>
            <a:r>
              <a:rPr sz="900" b="0" i="0">
                <a:solidFill>
                  <a:srgbClr val="D4E1ED"/>
                </a:solidFill>
                <a:latin typeface="Calibri"/>
              </a:rPr>
              <a:t>A neighbour says 'Message the MP on WhatsApp.' Ramesh finds the number. He types in Marathi. He has never done this before. He waits.</a:t>
            </a:r>
          </a:p>
        </p:txBody>
      </p:sp>
      <p:sp>
        <p:nvSpPr>
          <p:cNvPr id="18" name="Rectangle 17"/>
          <p:cNvSpPr/>
          <p:nvPr/>
        </p:nvSpPr>
        <p:spPr>
          <a:xfrm>
            <a:off x="4983480" y="2148840"/>
            <a:ext cx="2103120" cy="34747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83480" y="2148840"/>
            <a:ext cx="2103120" cy="54864"/>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2258568"/>
            <a:ext cx="2103120" cy="411480"/>
          </a:xfrm>
          <a:prstGeom prst="rect">
            <a:avLst/>
          </a:prstGeom>
          <a:noFill/>
        </p:spPr>
        <p:txBody>
          <a:bodyPr wrap="square">
            <a:spAutoFit/>
          </a:bodyPr>
          <a:lstStyle/>
          <a:p>
            <a:pPr algn="ctr"/>
            <a:r>
              <a:rPr sz="1800" b="1" i="0">
                <a:solidFill>
                  <a:srgbClr val="0EB59A"/>
                </a:solidFill>
                <a:latin typeface="Calibri"/>
              </a:rPr>
              <a:t>3</a:t>
            </a:r>
          </a:p>
        </p:txBody>
      </p:sp>
      <p:sp>
        <p:nvSpPr>
          <p:cNvPr id="21" name="TextBox 20"/>
          <p:cNvSpPr txBox="1"/>
          <p:nvPr/>
        </p:nvSpPr>
        <p:spPr>
          <a:xfrm>
            <a:off x="4983480" y="2651760"/>
            <a:ext cx="2103120" cy="411480"/>
          </a:xfrm>
          <a:prstGeom prst="rect">
            <a:avLst/>
          </a:prstGeom>
          <a:noFill/>
        </p:spPr>
        <p:txBody>
          <a:bodyPr wrap="square">
            <a:spAutoFit/>
          </a:bodyPr>
          <a:lstStyle/>
          <a:p>
            <a:pPr algn="ctr"/>
            <a:r>
              <a:rPr sz="1200" b="1" i="0">
                <a:solidFill>
                  <a:srgbClr val="FFFFFF"/>
                </a:solidFill>
                <a:latin typeface="Calibri"/>
              </a:rPr>
              <a:t>The Make-or-Break</a:t>
            </a:r>
          </a:p>
        </p:txBody>
      </p:sp>
      <p:sp>
        <p:nvSpPr>
          <p:cNvPr id="22" name="TextBox 21"/>
          <p:cNvSpPr txBox="1"/>
          <p:nvPr/>
        </p:nvSpPr>
        <p:spPr>
          <a:xfrm>
            <a:off x="5074920" y="3154680"/>
            <a:ext cx="1920240" cy="2286000"/>
          </a:xfrm>
          <a:prstGeom prst="rect">
            <a:avLst/>
          </a:prstGeom>
          <a:noFill/>
        </p:spPr>
        <p:txBody>
          <a:bodyPr wrap="square">
            <a:spAutoFit/>
          </a:bodyPr>
          <a:lstStyle/>
          <a:p>
            <a:pPr algn="l"/>
            <a:r>
              <a:rPr sz="900" b="0" i="0">
                <a:solidFill>
                  <a:srgbClr val="D4E1ED"/>
                </a:solidFill>
                <a:latin typeface="Calibri"/>
              </a:rPr>
              <a:t>THIS is the moment. The next 3 minutes decide whether Ramesh becomes your advocate or your opponent. Does he get an answer — or silence?</a:t>
            </a:r>
          </a:p>
        </p:txBody>
      </p:sp>
      <p:sp>
        <p:nvSpPr>
          <p:cNvPr id="23" name="Rectangle 22"/>
          <p:cNvSpPr/>
          <p:nvPr/>
        </p:nvSpPr>
        <p:spPr>
          <a:xfrm>
            <a:off x="7269480" y="2148840"/>
            <a:ext cx="2103120" cy="34747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9480" y="2148840"/>
            <a:ext cx="2103120" cy="54864"/>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69480" y="2258568"/>
            <a:ext cx="2103120" cy="411480"/>
          </a:xfrm>
          <a:prstGeom prst="rect">
            <a:avLst/>
          </a:prstGeom>
          <a:noFill/>
        </p:spPr>
        <p:txBody>
          <a:bodyPr wrap="square">
            <a:spAutoFit/>
          </a:bodyPr>
          <a:lstStyle/>
          <a:p>
            <a:pPr algn="ctr"/>
            <a:r>
              <a:rPr sz="1800" b="1" i="0">
                <a:solidFill>
                  <a:srgbClr val="138A3C"/>
                </a:solidFill>
                <a:latin typeface="Calibri"/>
              </a:rPr>
              <a:t>4</a:t>
            </a:r>
          </a:p>
        </p:txBody>
      </p:sp>
      <p:sp>
        <p:nvSpPr>
          <p:cNvPr id="26" name="TextBox 25"/>
          <p:cNvSpPr txBox="1"/>
          <p:nvPr/>
        </p:nvSpPr>
        <p:spPr>
          <a:xfrm>
            <a:off x="7269480" y="2651760"/>
            <a:ext cx="2103120" cy="411480"/>
          </a:xfrm>
          <a:prstGeom prst="rect">
            <a:avLst/>
          </a:prstGeom>
          <a:noFill/>
        </p:spPr>
        <p:txBody>
          <a:bodyPr wrap="square">
            <a:spAutoFit/>
          </a:bodyPr>
          <a:lstStyle/>
          <a:p>
            <a:pPr algn="ctr"/>
            <a:r>
              <a:rPr sz="1200" b="1" i="0">
                <a:solidFill>
                  <a:srgbClr val="FFFFFF"/>
                </a:solidFill>
                <a:latin typeface="Calibri"/>
              </a:rPr>
              <a:t>With Needle</a:t>
            </a:r>
          </a:p>
        </p:txBody>
      </p:sp>
      <p:sp>
        <p:nvSpPr>
          <p:cNvPr id="27" name="TextBox 26"/>
          <p:cNvSpPr txBox="1"/>
          <p:nvPr/>
        </p:nvSpPr>
        <p:spPr>
          <a:xfrm>
            <a:off x="7360920" y="3154680"/>
            <a:ext cx="1920240" cy="2286000"/>
          </a:xfrm>
          <a:prstGeom prst="rect">
            <a:avLst/>
          </a:prstGeom>
          <a:noFill/>
        </p:spPr>
        <p:txBody>
          <a:bodyPr wrap="square">
            <a:spAutoFit/>
          </a:bodyPr>
          <a:lstStyle/>
          <a:p>
            <a:pPr algn="l"/>
            <a:r>
              <a:rPr sz="900" b="0" i="0">
                <a:solidFill>
                  <a:srgbClr val="D4E1ED"/>
                </a:solidFill>
                <a:latin typeface="Calibri"/>
              </a:rPr>
              <a:t>Needle reads his message in Marathi. AI acknowledges instantly. Case is logged, tagged Infrastructure &gt; Lighting, location pinned to his ward. You see it on your dashboard. You act.</a:t>
            </a:r>
          </a:p>
        </p:txBody>
      </p:sp>
      <p:sp>
        <p:nvSpPr>
          <p:cNvPr id="28" name="Rectangle 27"/>
          <p:cNvSpPr/>
          <p:nvPr/>
        </p:nvSpPr>
        <p:spPr>
          <a:xfrm>
            <a:off x="9555480" y="2148840"/>
            <a:ext cx="2103120" cy="34747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55480" y="2148840"/>
            <a:ext cx="21031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55480" y="2258568"/>
            <a:ext cx="2103120" cy="411480"/>
          </a:xfrm>
          <a:prstGeom prst="rect">
            <a:avLst/>
          </a:prstGeom>
          <a:noFill/>
        </p:spPr>
        <p:txBody>
          <a:bodyPr wrap="square">
            <a:spAutoFit/>
          </a:bodyPr>
          <a:lstStyle/>
          <a:p>
            <a:pPr algn="ctr"/>
            <a:r>
              <a:rPr sz="1800" b="1" i="0">
                <a:solidFill>
                  <a:srgbClr val="FFFFFF"/>
                </a:solidFill>
                <a:latin typeface="Calibri"/>
              </a:rPr>
              <a:t>5</a:t>
            </a:r>
          </a:p>
        </p:txBody>
      </p:sp>
      <p:sp>
        <p:nvSpPr>
          <p:cNvPr id="31" name="TextBox 30"/>
          <p:cNvSpPr txBox="1"/>
          <p:nvPr/>
        </p:nvSpPr>
        <p:spPr>
          <a:xfrm>
            <a:off x="9555480" y="2651760"/>
            <a:ext cx="2103120" cy="411480"/>
          </a:xfrm>
          <a:prstGeom prst="rect">
            <a:avLst/>
          </a:prstGeom>
          <a:noFill/>
        </p:spPr>
        <p:txBody>
          <a:bodyPr wrap="square">
            <a:spAutoFit/>
          </a:bodyPr>
          <a:lstStyle/>
          <a:p>
            <a:pPr algn="ctr"/>
            <a:r>
              <a:rPr sz="1200" b="1" i="0">
                <a:solidFill>
                  <a:srgbClr val="FFFFFF"/>
                </a:solidFill>
                <a:latin typeface="Calibri"/>
              </a:rPr>
              <a:t>6 Weeks Later</a:t>
            </a:r>
          </a:p>
        </p:txBody>
      </p:sp>
      <p:sp>
        <p:nvSpPr>
          <p:cNvPr id="32" name="TextBox 31"/>
          <p:cNvSpPr txBox="1"/>
          <p:nvPr/>
        </p:nvSpPr>
        <p:spPr>
          <a:xfrm>
            <a:off x="9646920" y="3154680"/>
            <a:ext cx="1920240" cy="2286000"/>
          </a:xfrm>
          <a:prstGeom prst="rect">
            <a:avLst/>
          </a:prstGeom>
          <a:noFill/>
        </p:spPr>
        <p:txBody>
          <a:bodyPr wrap="square">
            <a:spAutoFit/>
          </a:bodyPr>
          <a:lstStyle/>
          <a:p>
            <a:pPr algn="l"/>
            <a:r>
              <a:rPr sz="900" b="0" i="0">
                <a:solidFill>
                  <a:srgbClr val="D4E1ED"/>
                </a:solidFill>
                <a:latin typeface="Calibri"/>
              </a:rPr>
              <a:t>The streetlight is fixed. Ramesh got updates twice. He tells 40 people: 'Message the MP — they actually respond.' That's 40 potential votes protected.</a:t>
            </a:r>
          </a:p>
        </p:txBody>
      </p:sp>
      <p:sp>
        <p:nvSpPr>
          <p:cNvPr id="33" name="TextBox 32"/>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560320" cy="32918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560320" cy="283464"/>
          </a:xfrm>
          <a:prstGeom prst="rect">
            <a:avLst/>
          </a:prstGeom>
          <a:noFill/>
        </p:spPr>
        <p:txBody>
          <a:bodyPr wrap="square">
            <a:spAutoFit/>
          </a:bodyPr>
          <a:lstStyle/>
          <a:p>
            <a:pPr algn="ctr"/>
            <a:r>
              <a:rPr sz="900" b="1" i="0">
                <a:solidFill>
                  <a:srgbClr val="07101E"/>
                </a:solidFill>
                <a:latin typeface="Calibri"/>
              </a:rPr>
              <a:t>INTRODUCING NEEDLE</a:t>
            </a:r>
          </a:p>
        </p:txBody>
      </p:sp>
      <p:sp>
        <p:nvSpPr>
          <p:cNvPr id="6" name="TextBox 5"/>
          <p:cNvSpPr txBox="1"/>
          <p:nvPr/>
        </p:nvSpPr>
        <p:spPr>
          <a:xfrm>
            <a:off x="548640" y="685800"/>
            <a:ext cx="8229600" cy="1280160"/>
          </a:xfrm>
          <a:prstGeom prst="rect">
            <a:avLst/>
          </a:prstGeom>
          <a:noFill/>
        </p:spPr>
        <p:txBody>
          <a:bodyPr wrap="square">
            <a:spAutoFit/>
          </a:bodyPr>
          <a:lstStyle/>
          <a:p>
            <a:pPr algn="l"/>
            <a:r>
              <a:rPr sz="3800" b="1" i="0">
                <a:solidFill>
                  <a:srgbClr val="FFFFFF"/>
                </a:solidFill>
                <a:latin typeface="Calibri"/>
              </a:rPr>
              <a:t>Your 24/7 political command centre.
Built for Indian democracy.</a:t>
            </a:r>
          </a:p>
        </p:txBody>
      </p:sp>
      <p:sp>
        <p:nvSpPr>
          <p:cNvPr id="7" name="Rectangle 6"/>
          <p:cNvSpPr/>
          <p:nvPr/>
        </p:nvSpPr>
        <p:spPr>
          <a:xfrm>
            <a:off x="548640" y="20116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194560"/>
            <a:ext cx="34747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94560"/>
            <a:ext cx="54864" cy="192024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31720"/>
            <a:ext cx="3200400" cy="548640"/>
          </a:xfrm>
          <a:prstGeom prst="rect">
            <a:avLst/>
          </a:prstGeom>
          <a:noFill/>
        </p:spPr>
        <p:txBody>
          <a:bodyPr wrap="square">
            <a:spAutoFit/>
          </a:bodyPr>
          <a:lstStyle/>
          <a:p>
            <a:pPr algn="l"/>
            <a:r>
              <a:rPr sz="1400" b="1" i="0">
                <a:solidFill>
                  <a:srgbClr val="FFFFFF"/>
                </a:solidFill>
                <a:latin typeface="Calibri"/>
              </a:rPr>
              <a:t>WhatsApp
Inbox</a:t>
            </a:r>
          </a:p>
        </p:txBody>
      </p:sp>
      <p:sp>
        <p:nvSpPr>
          <p:cNvPr id="11" name="TextBox 10"/>
          <p:cNvSpPr txBox="1"/>
          <p:nvPr/>
        </p:nvSpPr>
        <p:spPr>
          <a:xfrm>
            <a:off x="640080" y="2880360"/>
            <a:ext cx="3200400" cy="1097280"/>
          </a:xfrm>
          <a:prstGeom prst="rect">
            <a:avLst/>
          </a:prstGeom>
          <a:noFill/>
        </p:spPr>
        <p:txBody>
          <a:bodyPr wrap="square">
            <a:spAutoFit/>
          </a:bodyPr>
          <a:lstStyle/>
          <a:p>
            <a:pPr algn="l"/>
            <a:r>
              <a:rPr sz="1000" b="0" i="0">
                <a:solidFill>
                  <a:srgbClr val="D4E1ED"/>
                </a:solidFill>
                <a:latin typeface="Calibri"/>
              </a:rPr>
              <a:t>Citizens message you in any Indian language. Needle reads, categorises, and routes every single one — while you sleep.</a:t>
            </a:r>
          </a:p>
        </p:txBody>
      </p:sp>
      <p:sp>
        <p:nvSpPr>
          <p:cNvPr id="12" name="Rectangle 11"/>
          <p:cNvSpPr/>
          <p:nvPr/>
        </p:nvSpPr>
        <p:spPr>
          <a:xfrm>
            <a:off x="4206240" y="2194560"/>
            <a:ext cx="34747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2194560"/>
            <a:ext cx="54864" cy="192024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331720"/>
            <a:ext cx="3200400" cy="548640"/>
          </a:xfrm>
          <a:prstGeom prst="rect">
            <a:avLst/>
          </a:prstGeom>
          <a:noFill/>
        </p:spPr>
        <p:txBody>
          <a:bodyPr wrap="square">
            <a:spAutoFit/>
          </a:bodyPr>
          <a:lstStyle/>
          <a:p>
            <a:pPr algn="l"/>
            <a:r>
              <a:rPr sz="1400" b="1" i="0">
                <a:solidFill>
                  <a:srgbClr val="FFFFFF"/>
                </a:solidFill>
                <a:latin typeface="Calibri"/>
              </a:rPr>
              <a:t>AI Drafter</a:t>
            </a:r>
          </a:p>
        </p:txBody>
      </p:sp>
      <p:sp>
        <p:nvSpPr>
          <p:cNvPr id="15" name="TextBox 14"/>
          <p:cNvSpPr txBox="1"/>
          <p:nvPr/>
        </p:nvSpPr>
        <p:spPr>
          <a:xfrm>
            <a:off x="4389120" y="2880360"/>
            <a:ext cx="3200400" cy="1097280"/>
          </a:xfrm>
          <a:prstGeom prst="rect">
            <a:avLst/>
          </a:prstGeom>
          <a:noFill/>
        </p:spPr>
        <p:txBody>
          <a:bodyPr wrap="square">
            <a:spAutoFit/>
          </a:bodyPr>
          <a:lstStyle/>
          <a:p>
            <a:pPr algn="l"/>
            <a:r>
              <a:rPr sz="1000" b="0" i="0">
                <a:solidFill>
                  <a:srgbClr val="D4E1ED"/>
                </a:solidFill>
                <a:latin typeface="Calibri"/>
              </a:rPr>
              <a:t>Draft letters, Parliament questions, Private Member Bills, and speeches in the official Government of India format. In seconds.</a:t>
            </a:r>
          </a:p>
        </p:txBody>
      </p:sp>
      <p:sp>
        <p:nvSpPr>
          <p:cNvPr id="16" name="Rectangle 15"/>
          <p:cNvSpPr/>
          <p:nvPr/>
        </p:nvSpPr>
        <p:spPr>
          <a:xfrm>
            <a:off x="7955280" y="2194560"/>
            <a:ext cx="34747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80" y="2194560"/>
            <a:ext cx="54864" cy="1920240"/>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2331720"/>
            <a:ext cx="3200400" cy="548640"/>
          </a:xfrm>
          <a:prstGeom prst="rect">
            <a:avLst/>
          </a:prstGeom>
          <a:noFill/>
        </p:spPr>
        <p:txBody>
          <a:bodyPr wrap="square">
            <a:spAutoFit/>
          </a:bodyPr>
          <a:lstStyle/>
          <a:p>
            <a:pPr algn="l"/>
            <a:r>
              <a:rPr sz="1400" b="1" i="0">
                <a:solidFill>
                  <a:srgbClr val="FFFFFF"/>
                </a:solidFill>
                <a:latin typeface="Calibri"/>
              </a:rPr>
              <a:t>Case
Tracker</a:t>
            </a:r>
          </a:p>
        </p:txBody>
      </p:sp>
      <p:sp>
        <p:nvSpPr>
          <p:cNvPr id="19" name="TextBox 18"/>
          <p:cNvSpPr txBox="1"/>
          <p:nvPr/>
        </p:nvSpPr>
        <p:spPr>
          <a:xfrm>
            <a:off x="8138160" y="2880360"/>
            <a:ext cx="3200400" cy="1097280"/>
          </a:xfrm>
          <a:prstGeom prst="rect">
            <a:avLst/>
          </a:prstGeom>
          <a:noFill/>
        </p:spPr>
        <p:txBody>
          <a:bodyPr wrap="square">
            <a:spAutoFit/>
          </a:bodyPr>
          <a:lstStyle/>
          <a:p>
            <a:pPr algn="l"/>
            <a:r>
              <a:rPr sz="1000" b="0" i="0">
                <a:solidFill>
                  <a:srgbClr val="D4E1ED"/>
                </a:solidFill>
                <a:latin typeface="Calibri"/>
              </a:rPr>
              <a:t>Every complaint gets a case file — status, category, location, history. Nothing falls through the cracks. Ever.</a:t>
            </a:r>
          </a:p>
        </p:txBody>
      </p:sp>
      <p:sp>
        <p:nvSpPr>
          <p:cNvPr id="20" name="Rectangle 19"/>
          <p:cNvSpPr/>
          <p:nvPr/>
        </p:nvSpPr>
        <p:spPr>
          <a:xfrm>
            <a:off x="457200" y="4297680"/>
            <a:ext cx="34747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297680"/>
            <a:ext cx="54864" cy="1920240"/>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434840"/>
            <a:ext cx="3200400" cy="548640"/>
          </a:xfrm>
          <a:prstGeom prst="rect">
            <a:avLst/>
          </a:prstGeom>
          <a:noFill/>
        </p:spPr>
        <p:txBody>
          <a:bodyPr wrap="square">
            <a:spAutoFit/>
          </a:bodyPr>
          <a:lstStyle/>
          <a:p>
            <a:pPr algn="l"/>
            <a:r>
              <a:rPr sz="1400" b="1" i="0">
                <a:solidFill>
                  <a:srgbClr val="FFFFFF"/>
                </a:solidFill>
                <a:latin typeface="Calibri"/>
              </a:rPr>
              <a:t>CSR
Finder</a:t>
            </a:r>
          </a:p>
        </p:txBody>
      </p:sp>
      <p:sp>
        <p:nvSpPr>
          <p:cNvPr id="23" name="TextBox 22"/>
          <p:cNvSpPr txBox="1"/>
          <p:nvPr/>
        </p:nvSpPr>
        <p:spPr>
          <a:xfrm>
            <a:off x="640080" y="4983480"/>
            <a:ext cx="3200400" cy="1097280"/>
          </a:xfrm>
          <a:prstGeom prst="rect">
            <a:avLst/>
          </a:prstGeom>
          <a:noFill/>
        </p:spPr>
        <p:txBody>
          <a:bodyPr wrap="square">
            <a:spAutoFit/>
          </a:bodyPr>
          <a:lstStyle/>
          <a:p>
            <a:pPr algn="l"/>
            <a:r>
              <a:rPr sz="1000" b="0" i="0">
                <a:solidFill>
                  <a:srgbClr val="D4E1ED"/>
                </a:solidFill>
                <a:latin typeface="Calibri"/>
              </a:rPr>
              <a:t>Discover which corporates have CSR funds available for your constituency. Generate ready-to-send proposals automatically.</a:t>
            </a:r>
          </a:p>
        </p:txBody>
      </p:sp>
      <p:sp>
        <p:nvSpPr>
          <p:cNvPr id="24" name="Rectangle 23"/>
          <p:cNvSpPr/>
          <p:nvPr/>
        </p:nvSpPr>
        <p:spPr>
          <a:xfrm>
            <a:off x="4206240" y="4297680"/>
            <a:ext cx="34747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06240" y="4297680"/>
            <a:ext cx="54864" cy="1920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0" y="4434840"/>
            <a:ext cx="3200400" cy="548640"/>
          </a:xfrm>
          <a:prstGeom prst="rect">
            <a:avLst/>
          </a:prstGeom>
          <a:noFill/>
        </p:spPr>
        <p:txBody>
          <a:bodyPr wrap="square">
            <a:spAutoFit/>
          </a:bodyPr>
          <a:lstStyle/>
          <a:p>
            <a:pPr algn="l"/>
            <a:r>
              <a:rPr sz="1400" b="1" i="0">
                <a:solidFill>
                  <a:srgbClr val="FFFFFF"/>
                </a:solidFill>
                <a:latin typeface="Calibri"/>
              </a:rPr>
              <a:t>Document
Copilot</a:t>
            </a:r>
          </a:p>
        </p:txBody>
      </p:sp>
      <p:sp>
        <p:nvSpPr>
          <p:cNvPr id="27" name="TextBox 26"/>
          <p:cNvSpPr txBox="1"/>
          <p:nvPr/>
        </p:nvSpPr>
        <p:spPr>
          <a:xfrm>
            <a:off x="4389120" y="4983480"/>
            <a:ext cx="3200400" cy="1097280"/>
          </a:xfrm>
          <a:prstGeom prst="rect">
            <a:avLst/>
          </a:prstGeom>
          <a:noFill/>
        </p:spPr>
        <p:txBody>
          <a:bodyPr wrap="square">
            <a:spAutoFit/>
          </a:bodyPr>
          <a:lstStyle/>
          <a:p>
            <a:pPr algn="l"/>
            <a:r>
              <a:rPr sz="1000" b="0" i="0">
                <a:solidFill>
                  <a:srgbClr val="D4E1ED"/>
                </a:solidFill>
                <a:latin typeface="Calibri"/>
              </a:rPr>
              <a:t>Upload any government report, scheme notification, or budget. Ask it questions in Hindi or English. Get cited answers instantly.</a:t>
            </a:r>
          </a:p>
        </p:txBody>
      </p:sp>
      <p:sp>
        <p:nvSpPr>
          <p:cNvPr id="28" name="Rectangle 27"/>
          <p:cNvSpPr/>
          <p:nvPr/>
        </p:nvSpPr>
        <p:spPr>
          <a:xfrm>
            <a:off x="7955280" y="4297680"/>
            <a:ext cx="34747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955280" y="4297680"/>
            <a:ext cx="54864" cy="1920240"/>
          </a:xfrm>
          <a:prstGeom prst="rect">
            <a:avLst/>
          </a:prstGeom>
          <a:solidFill>
            <a:srgbClr val="F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4434840"/>
            <a:ext cx="3200400" cy="548640"/>
          </a:xfrm>
          <a:prstGeom prst="rect">
            <a:avLst/>
          </a:prstGeom>
          <a:noFill/>
        </p:spPr>
        <p:txBody>
          <a:bodyPr wrap="square">
            <a:spAutoFit/>
          </a:bodyPr>
          <a:lstStyle/>
          <a:p>
            <a:pPr algn="l"/>
            <a:r>
              <a:rPr sz="1400" b="1" i="0">
                <a:solidFill>
                  <a:srgbClr val="FFFFFF"/>
                </a:solidFill>
                <a:latin typeface="Calibri"/>
              </a:rPr>
              <a:t>News
Intel</a:t>
            </a:r>
          </a:p>
        </p:txBody>
      </p:sp>
      <p:sp>
        <p:nvSpPr>
          <p:cNvPr id="31" name="TextBox 30"/>
          <p:cNvSpPr txBox="1"/>
          <p:nvPr/>
        </p:nvSpPr>
        <p:spPr>
          <a:xfrm>
            <a:off x="8138160" y="4983480"/>
            <a:ext cx="3200400" cy="1097280"/>
          </a:xfrm>
          <a:prstGeom prst="rect">
            <a:avLst/>
          </a:prstGeom>
          <a:noFill/>
        </p:spPr>
        <p:txBody>
          <a:bodyPr wrap="square">
            <a:spAutoFit/>
          </a:bodyPr>
          <a:lstStyle/>
          <a:p>
            <a:pPr algn="l"/>
            <a:r>
              <a:rPr sz="1000" b="0" i="0">
                <a:solidFill>
                  <a:srgbClr val="D4E1ED"/>
                </a:solidFill>
                <a:latin typeface="Calibri"/>
              </a:rPr>
              <a:t>A live news feed filtered to your constituency and state. Know what's happening in your area before your opponent does.</a:t>
            </a:r>
          </a:p>
        </p:txBody>
      </p:sp>
      <p:sp>
        <p:nvSpPr>
          <p:cNvPr id="32" name="TextBox 31"/>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560320" cy="32918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560320" cy="283464"/>
          </a:xfrm>
          <a:prstGeom prst="rect">
            <a:avLst/>
          </a:prstGeom>
          <a:noFill/>
        </p:spPr>
        <p:txBody>
          <a:bodyPr wrap="square">
            <a:spAutoFit/>
          </a:bodyPr>
          <a:lstStyle/>
          <a:p>
            <a:pPr algn="ctr"/>
            <a:r>
              <a:rPr sz="900" b="1" i="0">
                <a:solidFill>
                  <a:srgbClr val="07101E"/>
                </a:solidFill>
                <a:latin typeface="Calibri"/>
              </a:rPr>
              <a:t>THE WHATSAPP ENGINE</a:t>
            </a:r>
          </a:p>
        </p:txBody>
      </p:sp>
      <p:sp>
        <p:nvSpPr>
          <p:cNvPr id="6" name="TextBox 5"/>
          <p:cNvSpPr txBox="1"/>
          <p:nvPr/>
        </p:nvSpPr>
        <p:spPr>
          <a:xfrm>
            <a:off x="548640" y="685800"/>
            <a:ext cx="8229600" cy="822960"/>
          </a:xfrm>
          <a:prstGeom prst="rect">
            <a:avLst/>
          </a:prstGeom>
          <a:noFill/>
        </p:spPr>
        <p:txBody>
          <a:bodyPr wrap="square">
            <a:spAutoFit/>
          </a:bodyPr>
          <a:lstStyle/>
          <a:p>
            <a:pPr algn="l"/>
            <a:r>
              <a:rPr sz="4200" b="1" i="0">
                <a:solidFill>
                  <a:srgbClr val="FFFFFF"/>
                </a:solidFill>
                <a:latin typeface="Calibri"/>
              </a:rPr>
              <a:t>Your PA sleeps. Needle doesn't.</a:t>
            </a:r>
          </a:p>
        </p:txBody>
      </p:sp>
      <p:sp>
        <p:nvSpPr>
          <p:cNvPr id="7" name="TextBox 6"/>
          <p:cNvSpPr txBox="1"/>
          <p:nvPr/>
        </p:nvSpPr>
        <p:spPr>
          <a:xfrm>
            <a:off x="548640" y="1508760"/>
            <a:ext cx="8686800" cy="777240"/>
          </a:xfrm>
          <a:prstGeom prst="rect">
            <a:avLst/>
          </a:prstGeom>
          <a:noFill/>
        </p:spPr>
        <p:txBody>
          <a:bodyPr wrap="square">
            <a:spAutoFit/>
          </a:bodyPr>
          <a:lstStyle/>
          <a:p>
            <a:pPr algn="l"/>
            <a:r>
              <a:rPr sz="1400" b="0" i="0">
                <a:solidFill>
                  <a:srgbClr val="D4E1ED"/>
                </a:solidFill>
                <a:latin typeface="Calibri"/>
              </a:rPr>
              <a:t>Every WhatsApp message from every constituent — received, read, categorised, and acknowledged.
Automatically. In their language. At 3am if needed.</a:t>
            </a:r>
          </a:p>
        </p:txBody>
      </p:sp>
      <p:sp>
        <p:nvSpPr>
          <p:cNvPr id="8" name="Rectangle 7"/>
          <p:cNvSpPr/>
          <p:nvPr/>
        </p:nvSpPr>
        <p:spPr>
          <a:xfrm>
            <a:off x="548640" y="237744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560320"/>
            <a:ext cx="914400" cy="777240"/>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560320"/>
            <a:ext cx="914400" cy="36576"/>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606040"/>
            <a:ext cx="914400" cy="365760"/>
          </a:xfrm>
          <a:prstGeom prst="rect">
            <a:avLst/>
          </a:prstGeom>
          <a:noFill/>
        </p:spPr>
        <p:txBody>
          <a:bodyPr wrap="square">
            <a:spAutoFit/>
          </a:bodyPr>
          <a:lstStyle/>
          <a:p>
            <a:pPr algn="ctr"/>
            <a:r>
              <a:rPr sz="1600" b="1" i="0">
                <a:solidFill>
                  <a:srgbClr val="FF7A00"/>
                </a:solidFill>
                <a:latin typeface="Calibri"/>
              </a:rPr>
              <a:t>हिंदी</a:t>
            </a:r>
          </a:p>
        </p:txBody>
      </p:sp>
      <p:sp>
        <p:nvSpPr>
          <p:cNvPr id="12" name="TextBox 11"/>
          <p:cNvSpPr txBox="1"/>
          <p:nvPr/>
        </p:nvSpPr>
        <p:spPr>
          <a:xfrm>
            <a:off x="457200" y="2999232"/>
            <a:ext cx="914400" cy="274320"/>
          </a:xfrm>
          <a:prstGeom prst="rect">
            <a:avLst/>
          </a:prstGeom>
          <a:noFill/>
        </p:spPr>
        <p:txBody>
          <a:bodyPr wrap="square">
            <a:spAutoFit/>
          </a:bodyPr>
          <a:lstStyle/>
          <a:p>
            <a:pPr algn="ctr"/>
            <a:r>
              <a:rPr sz="800" b="0" i="0">
                <a:solidFill>
                  <a:srgbClr val="D4E1ED"/>
                </a:solidFill>
                <a:latin typeface="Calibri"/>
              </a:rPr>
              <a:t>Hindi</a:t>
            </a:r>
          </a:p>
        </p:txBody>
      </p:sp>
      <p:sp>
        <p:nvSpPr>
          <p:cNvPr id="13" name="Rectangle 12"/>
          <p:cNvSpPr/>
          <p:nvPr/>
        </p:nvSpPr>
        <p:spPr>
          <a:xfrm>
            <a:off x="1463040" y="2560320"/>
            <a:ext cx="914400" cy="777240"/>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63040" y="2560320"/>
            <a:ext cx="9144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2606040"/>
            <a:ext cx="914400" cy="365760"/>
          </a:xfrm>
          <a:prstGeom prst="rect">
            <a:avLst/>
          </a:prstGeom>
          <a:noFill/>
        </p:spPr>
        <p:txBody>
          <a:bodyPr wrap="square">
            <a:spAutoFit/>
          </a:bodyPr>
          <a:lstStyle/>
          <a:p>
            <a:pPr algn="ctr"/>
            <a:r>
              <a:rPr sz="1600" b="1" i="0">
                <a:solidFill>
                  <a:srgbClr val="F5C518"/>
                </a:solidFill>
                <a:latin typeface="Calibri"/>
              </a:rPr>
              <a:t>मराठी</a:t>
            </a:r>
          </a:p>
        </p:txBody>
      </p:sp>
      <p:sp>
        <p:nvSpPr>
          <p:cNvPr id="16" name="TextBox 15"/>
          <p:cNvSpPr txBox="1"/>
          <p:nvPr/>
        </p:nvSpPr>
        <p:spPr>
          <a:xfrm>
            <a:off x="1463040" y="2999232"/>
            <a:ext cx="914400" cy="274320"/>
          </a:xfrm>
          <a:prstGeom prst="rect">
            <a:avLst/>
          </a:prstGeom>
          <a:noFill/>
        </p:spPr>
        <p:txBody>
          <a:bodyPr wrap="square">
            <a:spAutoFit/>
          </a:bodyPr>
          <a:lstStyle/>
          <a:p>
            <a:pPr algn="ctr"/>
            <a:r>
              <a:rPr sz="800" b="0" i="0">
                <a:solidFill>
                  <a:srgbClr val="D4E1ED"/>
                </a:solidFill>
                <a:latin typeface="Calibri"/>
              </a:rPr>
              <a:t>Marathi</a:t>
            </a:r>
          </a:p>
        </p:txBody>
      </p:sp>
      <p:sp>
        <p:nvSpPr>
          <p:cNvPr id="17" name="Rectangle 16"/>
          <p:cNvSpPr/>
          <p:nvPr/>
        </p:nvSpPr>
        <p:spPr>
          <a:xfrm>
            <a:off x="2468880" y="2560320"/>
            <a:ext cx="914400" cy="777240"/>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68880" y="2560320"/>
            <a:ext cx="914400" cy="36576"/>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80" y="2606040"/>
            <a:ext cx="914400" cy="365760"/>
          </a:xfrm>
          <a:prstGeom prst="rect">
            <a:avLst/>
          </a:prstGeom>
          <a:noFill/>
        </p:spPr>
        <p:txBody>
          <a:bodyPr wrap="square">
            <a:spAutoFit/>
          </a:bodyPr>
          <a:lstStyle/>
          <a:p>
            <a:pPr algn="ctr"/>
            <a:r>
              <a:rPr sz="1600" b="1" i="0">
                <a:solidFill>
                  <a:srgbClr val="0EB59A"/>
                </a:solidFill>
                <a:latin typeface="Calibri"/>
              </a:rPr>
              <a:t>ಕನ್ನಡ</a:t>
            </a:r>
          </a:p>
        </p:txBody>
      </p:sp>
      <p:sp>
        <p:nvSpPr>
          <p:cNvPr id="20" name="TextBox 19"/>
          <p:cNvSpPr txBox="1"/>
          <p:nvPr/>
        </p:nvSpPr>
        <p:spPr>
          <a:xfrm>
            <a:off x="2468880" y="2999232"/>
            <a:ext cx="914400" cy="274320"/>
          </a:xfrm>
          <a:prstGeom prst="rect">
            <a:avLst/>
          </a:prstGeom>
          <a:noFill/>
        </p:spPr>
        <p:txBody>
          <a:bodyPr wrap="square">
            <a:spAutoFit/>
          </a:bodyPr>
          <a:lstStyle/>
          <a:p>
            <a:pPr algn="ctr"/>
            <a:r>
              <a:rPr sz="800" b="0" i="0">
                <a:solidFill>
                  <a:srgbClr val="D4E1ED"/>
                </a:solidFill>
                <a:latin typeface="Calibri"/>
              </a:rPr>
              <a:t>Kannada</a:t>
            </a:r>
          </a:p>
        </p:txBody>
      </p:sp>
      <p:sp>
        <p:nvSpPr>
          <p:cNvPr id="21" name="Rectangle 20"/>
          <p:cNvSpPr/>
          <p:nvPr/>
        </p:nvSpPr>
        <p:spPr>
          <a:xfrm>
            <a:off x="3474720" y="2560320"/>
            <a:ext cx="914400" cy="777240"/>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74720" y="2560320"/>
            <a:ext cx="914400" cy="36576"/>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0" y="2606040"/>
            <a:ext cx="914400" cy="365760"/>
          </a:xfrm>
          <a:prstGeom prst="rect">
            <a:avLst/>
          </a:prstGeom>
          <a:noFill/>
        </p:spPr>
        <p:txBody>
          <a:bodyPr wrap="square">
            <a:spAutoFit/>
          </a:bodyPr>
          <a:lstStyle/>
          <a:p>
            <a:pPr algn="ctr"/>
            <a:r>
              <a:rPr sz="1600" b="1" i="0">
                <a:solidFill>
                  <a:srgbClr val="138A3C"/>
                </a:solidFill>
                <a:latin typeface="Calibri"/>
              </a:rPr>
              <a:t>Mix</a:t>
            </a:r>
          </a:p>
        </p:txBody>
      </p:sp>
      <p:sp>
        <p:nvSpPr>
          <p:cNvPr id="24" name="TextBox 23"/>
          <p:cNvSpPr txBox="1"/>
          <p:nvPr/>
        </p:nvSpPr>
        <p:spPr>
          <a:xfrm>
            <a:off x="3474720" y="2999232"/>
            <a:ext cx="914400" cy="274320"/>
          </a:xfrm>
          <a:prstGeom prst="rect">
            <a:avLst/>
          </a:prstGeom>
          <a:noFill/>
        </p:spPr>
        <p:txBody>
          <a:bodyPr wrap="square">
            <a:spAutoFit/>
          </a:bodyPr>
          <a:lstStyle/>
          <a:p>
            <a:pPr algn="ctr"/>
            <a:r>
              <a:rPr sz="800" b="0" i="0">
                <a:solidFill>
                  <a:srgbClr val="D4E1ED"/>
                </a:solidFill>
                <a:latin typeface="Calibri"/>
              </a:rPr>
              <a:t>Hinglish</a:t>
            </a:r>
          </a:p>
        </p:txBody>
      </p:sp>
      <p:sp>
        <p:nvSpPr>
          <p:cNvPr id="25" name="Rectangle 24"/>
          <p:cNvSpPr/>
          <p:nvPr/>
        </p:nvSpPr>
        <p:spPr>
          <a:xfrm>
            <a:off x="4480560" y="2560320"/>
            <a:ext cx="914400" cy="777240"/>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2560320"/>
            <a:ext cx="91440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2606040"/>
            <a:ext cx="914400" cy="365760"/>
          </a:xfrm>
          <a:prstGeom prst="rect">
            <a:avLst/>
          </a:prstGeom>
          <a:noFill/>
        </p:spPr>
        <p:txBody>
          <a:bodyPr wrap="square">
            <a:spAutoFit/>
          </a:bodyPr>
          <a:lstStyle/>
          <a:p>
            <a:pPr algn="ctr"/>
            <a:r>
              <a:rPr sz="1600" b="1" i="0">
                <a:solidFill>
                  <a:srgbClr val="7C3AED"/>
                </a:solidFill>
                <a:latin typeface="Calibri"/>
              </a:rPr>
              <a:t>EN</a:t>
            </a:r>
          </a:p>
        </p:txBody>
      </p:sp>
      <p:sp>
        <p:nvSpPr>
          <p:cNvPr id="28" name="TextBox 27"/>
          <p:cNvSpPr txBox="1"/>
          <p:nvPr/>
        </p:nvSpPr>
        <p:spPr>
          <a:xfrm>
            <a:off x="4480560" y="2999232"/>
            <a:ext cx="914400" cy="274320"/>
          </a:xfrm>
          <a:prstGeom prst="rect">
            <a:avLst/>
          </a:prstGeom>
          <a:noFill/>
        </p:spPr>
        <p:txBody>
          <a:bodyPr wrap="square">
            <a:spAutoFit/>
          </a:bodyPr>
          <a:lstStyle/>
          <a:p>
            <a:pPr algn="ctr"/>
            <a:r>
              <a:rPr sz="800" b="0" i="0">
                <a:solidFill>
                  <a:srgbClr val="D4E1ED"/>
                </a:solidFill>
                <a:latin typeface="Calibri"/>
              </a:rPr>
              <a:t>English</a:t>
            </a:r>
          </a:p>
        </p:txBody>
      </p:sp>
      <p:sp>
        <p:nvSpPr>
          <p:cNvPr id="29" name="Rectangle 28"/>
          <p:cNvSpPr/>
          <p:nvPr/>
        </p:nvSpPr>
        <p:spPr>
          <a:xfrm>
            <a:off x="411480" y="3520440"/>
            <a:ext cx="2011680" cy="16459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703320"/>
            <a:ext cx="2011680" cy="640080"/>
          </a:xfrm>
          <a:prstGeom prst="rect">
            <a:avLst/>
          </a:prstGeom>
          <a:noFill/>
        </p:spPr>
        <p:txBody>
          <a:bodyPr wrap="square">
            <a:spAutoFit/>
          </a:bodyPr>
          <a:lstStyle/>
          <a:p>
            <a:pPr algn="ctr"/>
            <a:r>
              <a:rPr sz="1300" b="1" i="0">
                <a:solidFill>
                  <a:srgbClr val="FFFFFF"/>
                </a:solidFill>
                <a:latin typeface="Calibri"/>
              </a:rPr>
              <a:t>Citizen sends
WhatsApp</a:t>
            </a:r>
          </a:p>
        </p:txBody>
      </p:sp>
      <p:sp>
        <p:nvSpPr>
          <p:cNvPr id="31" name="TextBox 30"/>
          <p:cNvSpPr txBox="1"/>
          <p:nvPr/>
        </p:nvSpPr>
        <p:spPr>
          <a:xfrm>
            <a:off x="411480" y="4389120"/>
            <a:ext cx="2011680" cy="640080"/>
          </a:xfrm>
          <a:prstGeom prst="rect">
            <a:avLst/>
          </a:prstGeom>
          <a:noFill/>
        </p:spPr>
        <p:txBody>
          <a:bodyPr wrap="square">
            <a:spAutoFit/>
          </a:bodyPr>
          <a:lstStyle/>
          <a:p>
            <a:pPr algn="ctr"/>
            <a:r>
              <a:rPr sz="900" b="0" i="0">
                <a:solidFill>
                  <a:srgbClr val="7A98B2"/>
                </a:solidFill>
                <a:latin typeface="Calibri"/>
              </a:rPr>
              <a:t>In any language,
any time of day</a:t>
            </a:r>
          </a:p>
        </p:txBody>
      </p:sp>
      <p:sp>
        <p:nvSpPr>
          <p:cNvPr id="32" name="TextBox 31"/>
          <p:cNvSpPr txBox="1"/>
          <p:nvPr/>
        </p:nvSpPr>
        <p:spPr>
          <a:xfrm>
            <a:off x="2496312" y="4114800"/>
            <a:ext cx="201168" cy="365760"/>
          </a:xfrm>
          <a:prstGeom prst="rect">
            <a:avLst/>
          </a:prstGeom>
          <a:noFill/>
        </p:spPr>
        <p:txBody>
          <a:bodyPr wrap="square">
            <a:spAutoFit/>
          </a:bodyPr>
          <a:lstStyle/>
          <a:p>
            <a:pPr algn="ctr"/>
            <a:r>
              <a:rPr sz="1400" b="0" i="0">
                <a:solidFill>
                  <a:srgbClr val="FF7A00"/>
                </a:solidFill>
                <a:latin typeface="Calibri"/>
              </a:rPr>
              <a:t>▶</a:t>
            </a:r>
          </a:p>
        </p:txBody>
      </p:sp>
      <p:sp>
        <p:nvSpPr>
          <p:cNvPr id="33" name="Rectangle 32"/>
          <p:cNvSpPr/>
          <p:nvPr/>
        </p:nvSpPr>
        <p:spPr>
          <a:xfrm>
            <a:off x="2743200" y="3520440"/>
            <a:ext cx="2011680" cy="164592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0" y="3703320"/>
            <a:ext cx="2011680" cy="640080"/>
          </a:xfrm>
          <a:prstGeom prst="rect">
            <a:avLst/>
          </a:prstGeom>
          <a:noFill/>
        </p:spPr>
        <p:txBody>
          <a:bodyPr wrap="square">
            <a:spAutoFit/>
          </a:bodyPr>
          <a:lstStyle/>
          <a:p>
            <a:pPr algn="ctr"/>
            <a:r>
              <a:rPr sz="1300" b="1" i="0">
                <a:solidFill>
                  <a:srgbClr val="07101E"/>
                </a:solidFill>
                <a:latin typeface="Calibri"/>
              </a:rPr>
              <a:t>AI reads
&amp; classifies</a:t>
            </a:r>
          </a:p>
        </p:txBody>
      </p:sp>
      <p:sp>
        <p:nvSpPr>
          <p:cNvPr id="35" name="TextBox 34"/>
          <p:cNvSpPr txBox="1"/>
          <p:nvPr/>
        </p:nvSpPr>
        <p:spPr>
          <a:xfrm>
            <a:off x="2743200" y="4389120"/>
            <a:ext cx="2011680" cy="640080"/>
          </a:xfrm>
          <a:prstGeom prst="rect">
            <a:avLst/>
          </a:prstGeom>
          <a:noFill/>
        </p:spPr>
        <p:txBody>
          <a:bodyPr wrap="square">
            <a:spAutoFit/>
          </a:bodyPr>
          <a:lstStyle/>
          <a:p>
            <a:pPr algn="ctr"/>
            <a:r>
              <a:rPr sz="900" b="0" i="0">
                <a:solidFill>
                  <a:srgbClr val="07101E"/>
                </a:solidFill>
                <a:latin typeface="Calibri"/>
              </a:rPr>
              <a:t>Category + Location
+ Urgency level</a:t>
            </a:r>
          </a:p>
        </p:txBody>
      </p:sp>
      <p:sp>
        <p:nvSpPr>
          <p:cNvPr id="36" name="TextBox 35"/>
          <p:cNvSpPr txBox="1"/>
          <p:nvPr/>
        </p:nvSpPr>
        <p:spPr>
          <a:xfrm>
            <a:off x="4828032" y="4114800"/>
            <a:ext cx="201168" cy="365760"/>
          </a:xfrm>
          <a:prstGeom prst="rect">
            <a:avLst/>
          </a:prstGeom>
          <a:noFill/>
        </p:spPr>
        <p:txBody>
          <a:bodyPr wrap="square">
            <a:spAutoFit/>
          </a:bodyPr>
          <a:lstStyle/>
          <a:p>
            <a:pPr algn="ctr"/>
            <a:r>
              <a:rPr sz="1400" b="0" i="0">
                <a:solidFill>
                  <a:srgbClr val="FF7A00"/>
                </a:solidFill>
                <a:latin typeface="Calibri"/>
              </a:rPr>
              <a:t>▶</a:t>
            </a:r>
          </a:p>
        </p:txBody>
      </p:sp>
      <p:sp>
        <p:nvSpPr>
          <p:cNvPr id="37" name="Rectangle 36"/>
          <p:cNvSpPr/>
          <p:nvPr/>
        </p:nvSpPr>
        <p:spPr>
          <a:xfrm>
            <a:off x="5074920" y="3520440"/>
            <a:ext cx="2011680" cy="16459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03320"/>
            <a:ext cx="2011680" cy="640080"/>
          </a:xfrm>
          <a:prstGeom prst="rect">
            <a:avLst/>
          </a:prstGeom>
          <a:noFill/>
        </p:spPr>
        <p:txBody>
          <a:bodyPr wrap="square">
            <a:spAutoFit/>
          </a:bodyPr>
          <a:lstStyle/>
          <a:p>
            <a:pPr algn="ctr"/>
            <a:r>
              <a:rPr sz="1300" b="1" i="0">
                <a:solidFill>
                  <a:srgbClr val="FFFFFF"/>
                </a:solidFill>
                <a:latin typeface="Calibri"/>
              </a:rPr>
              <a:t>Auto-reply
sent</a:t>
            </a:r>
          </a:p>
        </p:txBody>
      </p:sp>
      <p:sp>
        <p:nvSpPr>
          <p:cNvPr id="39" name="TextBox 38"/>
          <p:cNvSpPr txBox="1"/>
          <p:nvPr/>
        </p:nvSpPr>
        <p:spPr>
          <a:xfrm>
            <a:off x="5074920" y="4389120"/>
            <a:ext cx="2011680" cy="640080"/>
          </a:xfrm>
          <a:prstGeom prst="rect">
            <a:avLst/>
          </a:prstGeom>
          <a:noFill/>
        </p:spPr>
        <p:txBody>
          <a:bodyPr wrap="square">
            <a:spAutoFit/>
          </a:bodyPr>
          <a:lstStyle/>
          <a:p>
            <a:pPr algn="ctr"/>
            <a:r>
              <a:rPr sz="900" b="0" i="0">
                <a:solidFill>
                  <a:srgbClr val="7A98B2"/>
                </a:solidFill>
                <a:latin typeface="Calibri"/>
              </a:rPr>
              <a:t>In citizen's language
within 3 seconds</a:t>
            </a:r>
          </a:p>
        </p:txBody>
      </p:sp>
      <p:sp>
        <p:nvSpPr>
          <p:cNvPr id="40" name="TextBox 39"/>
          <p:cNvSpPr txBox="1"/>
          <p:nvPr/>
        </p:nvSpPr>
        <p:spPr>
          <a:xfrm>
            <a:off x="7159752" y="4114800"/>
            <a:ext cx="201168" cy="365760"/>
          </a:xfrm>
          <a:prstGeom prst="rect">
            <a:avLst/>
          </a:prstGeom>
          <a:noFill/>
        </p:spPr>
        <p:txBody>
          <a:bodyPr wrap="square">
            <a:spAutoFit/>
          </a:bodyPr>
          <a:lstStyle/>
          <a:p>
            <a:pPr algn="ctr"/>
            <a:r>
              <a:rPr sz="1400" b="0" i="0">
                <a:solidFill>
                  <a:srgbClr val="FF7A00"/>
                </a:solidFill>
                <a:latin typeface="Calibri"/>
              </a:rPr>
              <a:t>▶</a:t>
            </a:r>
          </a:p>
        </p:txBody>
      </p:sp>
      <p:sp>
        <p:nvSpPr>
          <p:cNvPr id="41" name="Rectangle 40"/>
          <p:cNvSpPr/>
          <p:nvPr/>
        </p:nvSpPr>
        <p:spPr>
          <a:xfrm>
            <a:off x="7406640" y="3520440"/>
            <a:ext cx="2011680" cy="16459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0" y="3703320"/>
            <a:ext cx="2011680" cy="640080"/>
          </a:xfrm>
          <a:prstGeom prst="rect">
            <a:avLst/>
          </a:prstGeom>
          <a:noFill/>
        </p:spPr>
        <p:txBody>
          <a:bodyPr wrap="square">
            <a:spAutoFit/>
          </a:bodyPr>
          <a:lstStyle/>
          <a:p>
            <a:pPr algn="ctr"/>
            <a:r>
              <a:rPr sz="1300" b="1" i="0">
                <a:solidFill>
                  <a:srgbClr val="FFFFFF"/>
                </a:solidFill>
                <a:latin typeface="Calibri"/>
              </a:rPr>
              <a:t>Case logged
on dashboard</a:t>
            </a:r>
          </a:p>
        </p:txBody>
      </p:sp>
      <p:sp>
        <p:nvSpPr>
          <p:cNvPr id="43" name="TextBox 42"/>
          <p:cNvSpPr txBox="1"/>
          <p:nvPr/>
        </p:nvSpPr>
        <p:spPr>
          <a:xfrm>
            <a:off x="7406640" y="4389120"/>
            <a:ext cx="2011680" cy="640080"/>
          </a:xfrm>
          <a:prstGeom prst="rect">
            <a:avLst/>
          </a:prstGeom>
          <a:noFill/>
        </p:spPr>
        <p:txBody>
          <a:bodyPr wrap="square">
            <a:spAutoFit/>
          </a:bodyPr>
          <a:lstStyle/>
          <a:p>
            <a:pPr algn="ctr"/>
            <a:r>
              <a:rPr sz="900" b="0" i="0">
                <a:solidFill>
                  <a:srgbClr val="7A98B2"/>
                </a:solidFill>
                <a:latin typeface="Calibri"/>
              </a:rPr>
              <a:t>Status, tags, history
fully tracked</a:t>
            </a:r>
          </a:p>
        </p:txBody>
      </p:sp>
      <p:sp>
        <p:nvSpPr>
          <p:cNvPr id="44" name="TextBox 43"/>
          <p:cNvSpPr txBox="1"/>
          <p:nvPr/>
        </p:nvSpPr>
        <p:spPr>
          <a:xfrm>
            <a:off x="9491472" y="4114800"/>
            <a:ext cx="201168" cy="365760"/>
          </a:xfrm>
          <a:prstGeom prst="rect">
            <a:avLst/>
          </a:prstGeom>
          <a:noFill/>
        </p:spPr>
        <p:txBody>
          <a:bodyPr wrap="square">
            <a:spAutoFit/>
          </a:bodyPr>
          <a:lstStyle/>
          <a:p>
            <a:pPr algn="ctr"/>
            <a:r>
              <a:rPr sz="1400" b="0" i="0">
                <a:solidFill>
                  <a:srgbClr val="FF7A00"/>
                </a:solidFill>
                <a:latin typeface="Calibri"/>
              </a:rPr>
              <a:t>▶</a:t>
            </a:r>
          </a:p>
        </p:txBody>
      </p:sp>
      <p:sp>
        <p:nvSpPr>
          <p:cNvPr id="45" name="Rectangle 44"/>
          <p:cNvSpPr/>
          <p:nvPr/>
        </p:nvSpPr>
        <p:spPr>
          <a:xfrm>
            <a:off x="9738360" y="3520440"/>
            <a:ext cx="2011680" cy="16459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38360" y="3703320"/>
            <a:ext cx="2011680" cy="640080"/>
          </a:xfrm>
          <a:prstGeom prst="rect">
            <a:avLst/>
          </a:prstGeom>
          <a:noFill/>
        </p:spPr>
        <p:txBody>
          <a:bodyPr wrap="square">
            <a:spAutoFit/>
          </a:bodyPr>
          <a:lstStyle/>
          <a:p>
            <a:pPr algn="ctr"/>
            <a:r>
              <a:rPr sz="1300" b="1" i="0">
                <a:solidFill>
                  <a:srgbClr val="FFFFFF"/>
                </a:solidFill>
                <a:latin typeface="Calibri"/>
              </a:rPr>
              <a:t>MP takes
action</a:t>
            </a:r>
          </a:p>
        </p:txBody>
      </p:sp>
      <p:sp>
        <p:nvSpPr>
          <p:cNvPr id="47" name="TextBox 46"/>
          <p:cNvSpPr txBox="1"/>
          <p:nvPr/>
        </p:nvSpPr>
        <p:spPr>
          <a:xfrm>
            <a:off x="9738360" y="4389120"/>
            <a:ext cx="2011680" cy="640080"/>
          </a:xfrm>
          <a:prstGeom prst="rect">
            <a:avLst/>
          </a:prstGeom>
          <a:noFill/>
        </p:spPr>
        <p:txBody>
          <a:bodyPr wrap="square">
            <a:spAutoFit/>
          </a:bodyPr>
          <a:lstStyle/>
          <a:p>
            <a:pPr algn="ctr"/>
            <a:r>
              <a:rPr sz="900" b="0" i="0">
                <a:solidFill>
                  <a:srgbClr val="7A98B2"/>
                </a:solidFill>
                <a:latin typeface="Calibri"/>
              </a:rPr>
              <a:t>Assign, escalate,
or resolve</a:t>
            </a:r>
          </a:p>
        </p:txBody>
      </p:sp>
      <p:sp>
        <p:nvSpPr>
          <p:cNvPr id="48" name="TextBox 47"/>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743200" cy="32918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743200" cy="283464"/>
          </a:xfrm>
          <a:prstGeom prst="rect">
            <a:avLst/>
          </a:prstGeom>
          <a:noFill/>
        </p:spPr>
        <p:txBody>
          <a:bodyPr wrap="square">
            <a:spAutoFit/>
          </a:bodyPr>
          <a:lstStyle/>
          <a:p>
            <a:pPr algn="ctr"/>
            <a:r>
              <a:rPr sz="900" b="1" i="0">
                <a:solidFill>
                  <a:srgbClr val="07101E"/>
                </a:solidFill>
                <a:latin typeface="Calibri"/>
              </a:rPr>
              <a:t>PARLIAMENT PERFORMANCE</a:t>
            </a:r>
          </a:p>
        </p:txBody>
      </p:sp>
      <p:sp>
        <p:nvSpPr>
          <p:cNvPr id="6" name="TextBox 5"/>
          <p:cNvSpPr txBox="1"/>
          <p:nvPr/>
        </p:nvSpPr>
        <p:spPr>
          <a:xfrm>
            <a:off x="548640" y="685800"/>
            <a:ext cx="7772400" cy="1280160"/>
          </a:xfrm>
          <a:prstGeom prst="rect">
            <a:avLst/>
          </a:prstGeom>
          <a:noFill/>
        </p:spPr>
        <p:txBody>
          <a:bodyPr wrap="square">
            <a:spAutoFit/>
          </a:bodyPr>
          <a:lstStyle/>
          <a:p>
            <a:pPr algn="l"/>
            <a:r>
              <a:rPr sz="3800" b="1" i="0">
                <a:solidFill>
                  <a:srgbClr val="FFFFFF"/>
                </a:solidFill>
                <a:latin typeface="Calibri"/>
              </a:rPr>
              <a:t>Your party notices who asks
the sharpest questions.</a:t>
            </a:r>
          </a:p>
        </p:txBody>
      </p:sp>
      <p:sp>
        <p:nvSpPr>
          <p:cNvPr id="7" name="Rectangle 6"/>
          <p:cNvSpPr/>
          <p:nvPr/>
        </p:nvSpPr>
        <p:spPr>
          <a:xfrm>
            <a:off x="548640" y="20116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40280"/>
            <a:ext cx="53035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40280"/>
            <a:ext cx="5303520" cy="5486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404872"/>
            <a:ext cx="5029200" cy="411480"/>
          </a:xfrm>
          <a:prstGeom prst="rect">
            <a:avLst/>
          </a:prstGeom>
          <a:noFill/>
        </p:spPr>
        <p:txBody>
          <a:bodyPr wrap="square">
            <a:spAutoFit/>
          </a:bodyPr>
          <a:lstStyle/>
          <a:p>
            <a:pPr algn="l"/>
            <a:r>
              <a:rPr sz="1500" b="1" i="0">
                <a:solidFill>
                  <a:srgbClr val="FFFFFF"/>
                </a:solidFill>
                <a:latin typeface="Calibri"/>
              </a:rPr>
              <a:t>Official Letters</a:t>
            </a:r>
          </a:p>
        </p:txBody>
      </p:sp>
      <p:sp>
        <p:nvSpPr>
          <p:cNvPr id="11" name="TextBox 10"/>
          <p:cNvSpPr txBox="1"/>
          <p:nvPr/>
        </p:nvSpPr>
        <p:spPr>
          <a:xfrm>
            <a:off x="621792" y="2898648"/>
            <a:ext cx="5029200" cy="1097280"/>
          </a:xfrm>
          <a:prstGeom prst="rect">
            <a:avLst/>
          </a:prstGeom>
          <a:noFill/>
        </p:spPr>
        <p:txBody>
          <a:bodyPr wrap="square">
            <a:spAutoFit/>
          </a:bodyPr>
          <a:lstStyle/>
          <a:p>
            <a:pPr algn="l"/>
            <a:r>
              <a:rPr sz="1000" b="0" i="0">
                <a:solidFill>
                  <a:srgbClr val="D4E1ED"/>
                </a:solidFill>
                <a:latin typeface="Calibri"/>
              </a:rPr>
              <a:t>GoI standard format. F.No., formal Rajbhasha Hindi. Write to any Minister or Department in under 2 minutes. Assertive, diplomatic, or formal tone — your choice.</a:t>
            </a:r>
          </a:p>
        </p:txBody>
      </p:sp>
      <p:sp>
        <p:nvSpPr>
          <p:cNvPr id="12" name="Rectangle 11"/>
          <p:cNvSpPr/>
          <p:nvPr/>
        </p:nvSpPr>
        <p:spPr>
          <a:xfrm>
            <a:off x="6263640" y="2240280"/>
            <a:ext cx="53035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2240280"/>
            <a:ext cx="530352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2404872"/>
            <a:ext cx="5029200" cy="411480"/>
          </a:xfrm>
          <a:prstGeom prst="rect">
            <a:avLst/>
          </a:prstGeom>
          <a:noFill/>
        </p:spPr>
        <p:txBody>
          <a:bodyPr wrap="square">
            <a:spAutoFit/>
          </a:bodyPr>
          <a:lstStyle/>
          <a:p>
            <a:pPr algn="l"/>
            <a:r>
              <a:rPr sz="1500" b="1" i="0">
                <a:solidFill>
                  <a:srgbClr val="FFFFFF"/>
                </a:solidFill>
                <a:latin typeface="Calibri"/>
              </a:rPr>
              <a:t>Parliament Questions</a:t>
            </a:r>
          </a:p>
        </p:txBody>
      </p:sp>
      <p:sp>
        <p:nvSpPr>
          <p:cNvPr id="15" name="TextBox 14"/>
          <p:cNvSpPr txBox="1"/>
          <p:nvPr/>
        </p:nvSpPr>
        <p:spPr>
          <a:xfrm>
            <a:off x="6428232" y="2898648"/>
            <a:ext cx="5029200" cy="1097280"/>
          </a:xfrm>
          <a:prstGeom prst="rect">
            <a:avLst/>
          </a:prstGeom>
          <a:noFill/>
        </p:spPr>
        <p:txBody>
          <a:bodyPr wrap="square">
            <a:spAutoFit/>
          </a:bodyPr>
          <a:lstStyle/>
          <a:p>
            <a:pPr algn="l"/>
            <a:r>
              <a:rPr sz="1000" b="0" i="0">
                <a:solidFill>
                  <a:srgbClr val="D4E1ED"/>
                </a:solidFill>
                <a:latin typeface="Calibri"/>
              </a:rPr>
              <a:t>Starred and Unstarred questions for Lok Sabha and Rajya Sabha. Proper format, sharp subject lines, data-backed. Ask more. Ask better.</a:t>
            </a:r>
          </a:p>
        </p:txBody>
      </p:sp>
      <p:sp>
        <p:nvSpPr>
          <p:cNvPr id="16" name="Rectangle 15"/>
          <p:cNvSpPr/>
          <p:nvPr/>
        </p:nvSpPr>
        <p:spPr>
          <a:xfrm>
            <a:off x="457200" y="4343400"/>
            <a:ext cx="53035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43400"/>
            <a:ext cx="5303520" cy="54864"/>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4507992"/>
            <a:ext cx="5029200" cy="411480"/>
          </a:xfrm>
          <a:prstGeom prst="rect">
            <a:avLst/>
          </a:prstGeom>
          <a:noFill/>
        </p:spPr>
        <p:txBody>
          <a:bodyPr wrap="square">
            <a:spAutoFit/>
          </a:bodyPr>
          <a:lstStyle/>
          <a:p>
            <a:pPr algn="l"/>
            <a:r>
              <a:rPr sz="1500" b="1" i="0">
                <a:solidFill>
                  <a:srgbClr val="FFFFFF"/>
                </a:solidFill>
                <a:latin typeface="Calibri"/>
              </a:rPr>
              <a:t>Private Member Bills</a:t>
            </a:r>
          </a:p>
        </p:txBody>
      </p:sp>
      <p:sp>
        <p:nvSpPr>
          <p:cNvPr id="19" name="TextBox 18"/>
          <p:cNvSpPr txBox="1"/>
          <p:nvPr/>
        </p:nvSpPr>
        <p:spPr>
          <a:xfrm>
            <a:off x="621792" y="5001768"/>
            <a:ext cx="5029200" cy="1097280"/>
          </a:xfrm>
          <a:prstGeom prst="rect">
            <a:avLst/>
          </a:prstGeom>
          <a:noFill/>
        </p:spPr>
        <p:txBody>
          <a:bodyPr wrap="square">
            <a:spAutoFit/>
          </a:bodyPr>
          <a:lstStyle/>
          <a:p>
            <a:pPr algn="l"/>
            <a:r>
              <a:rPr sz="1000" b="0" i="0">
                <a:solidFill>
                  <a:srgbClr val="D4E1ED"/>
                </a:solidFill>
                <a:latin typeface="Calibri"/>
              </a:rPr>
              <a:t>Clause-by-clause bill drafts with Statement of Objects and Reasons. Turn constituency problems into legislative proposals.</a:t>
            </a:r>
          </a:p>
        </p:txBody>
      </p:sp>
      <p:sp>
        <p:nvSpPr>
          <p:cNvPr id="20" name="Rectangle 19"/>
          <p:cNvSpPr/>
          <p:nvPr/>
        </p:nvSpPr>
        <p:spPr>
          <a:xfrm>
            <a:off x="6263640" y="4343400"/>
            <a:ext cx="5303520" cy="192024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4343400"/>
            <a:ext cx="5303520" cy="54864"/>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4507992"/>
            <a:ext cx="5029200" cy="411480"/>
          </a:xfrm>
          <a:prstGeom prst="rect">
            <a:avLst/>
          </a:prstGeom>
          <a:noFill/>
        </p:spPr>
        <p:txBody>
          <a:bodyPr wrap="square">
            <a:spAutoFit/>
          </a:bodyPr>
          <a:lstStyle/>
          <a:p>
            <a:pPr algn="l"/>
            <a:r>
              <a:rPr sz="1500" b="1" i="0">
                <a:solidFill>
                  <a:srgbClr val="FFFFFF"/>
                </a:solidFill>
                <a:latin typeface="Calibri"/>
              </a:rPr>
              <a:t>Speeches &amp; Statements</a:t>
            </a:r>
          </a:p>
        </p:txBody>
      </p:sp>
      <p:sp>
        <p:nvSpPr>
          <p:cNvPr id="23" name="TextBox 22"/>
          <p:cNvSpPr txBox="1"/>
          <p:nvPr/>
        </p:nvSpPr>
        <p:spPr>
          <a:xfrm>
            <a:off x="6428232" y="5001768"/>
            <a:ext cx="5029200" cy="1097280"/>
          </a:xfrm>
          <a:prstGeom prst="rect">
            <a:avLst/>
          </a:prstGeom>
          <a:noFill/>
        </p:spPr>
        <p:txBody>
          <a:bodyPr wrap="square">
            <a:spAutoFit/>
          </a:bodyPr>
          <a:lstStyle/>
          <a:p>
            <a:pPr algn="l"/>
            <a:r>
              <a:rPr sz="1000" b="0" i="0">
                <a:solidFill>
                  <a:srgbClr val="D4E1ED"/>
                </a:solidFill>
                <a:latin typeface="Calibri"/>
              </a:rPr>
              <a:t>Budget reply speeches, committee statements, constituency development addresses. With data, with arguments, with impact.</a:t>
            </a:r>
          </a:p>
        </p:txBody>
      </p:sp>
      <p:sp>
        <p:nvSpPr>
          <p:cNvPr id="24" name="Rectangle 23"/>
          <p:cNvSpPr/>
          <p:nvPr/>
        </p:nvSpPr>
        <p:spPr>
          <a:xfrm>
            <a:off x="457200" y="6217920"/>
            <a:ext cx="11274552" cy="384048"/>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6291072"/>
            <a:ext cx="11000232" cy="292608"/>
          </a:xfrm>
          <a:prstGeom prst="rect">
            <a:avLst/>
          </a:prstGeom>
          <a:noFill/>
        </p:spPr>
        <p:txBody>
          <a:bodyPr wrap="square">
            <a:spAutoFit/>
          </a:bodyPr>
          <a:lstStyle/>
          <a:p>
            <a:pPr algn="l"/>
            <a:r>
              <a:rPr sz="1000" b="0" i="0">
                <a:solidFill>
                  <a:srgbClr val="F5C518"/>
                </a:solidFill>
                <a:latin typeface="Calibri"/>
              </a:rPr>
              <a:t>DNA Style Templates — Needle learns your writing voice. Every draft sounds like you, not a robot.</a:t>
            </a:r>
          </a:p>
        </p:txBody>
      </p:sp>
      <p:sp>
        <p:nvSpPr>
          <p:cNvPr id="26" name="TextBox 25"/>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926080" cy="329184"/>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926080" cy="283464"/>
          </a:xfrm>
          <a:prstGeom prst="rect">
            <a:avLst/>
          </a:prstGeom>
          <a:noFill/>
        </p:spPr>
        <p:txBody>
          <a:bodyPr wrap="square">
            <a:spAutoFit/>
          </a:bodyPr>
          <a:lstStyle/>
          <a:p>
            <a:pPr algn="ctr"/>
            <a:r>
              <a:rPr sz="900" b="1" i="0">
                <a:solidFill>
                  <a:srgbClr val="FFFFFF"/>
                </a:solidFill>
                <a:latin typeface="Calibri"/>
              </a:rPr>
              <a:t>CSR &amp; FUNDS INTELLIGENCE</a:t>
            </a:r>
          </a:p>
        </p:txBody>
      </p:sp>
      <p:sp>
        <p:nvSpPr>
          <p:cNvPr id="6" name="TextBox 5"/>
          <p:cNvSpPr txBox="1"/>
          <p:nvPr/>
        </p:nvSpPr>
        <p:spPr>
          <a:xfrm>
            <a:off x="548640" y="685800"/>
            <a:ext cx="9144000" cy="1280160"/>
          </a:xfrm>
          <a:prstGeom prst="rect">
            <a:avLst/>
          </a:prstGeom>
          <a:noFill/>
        </p:spPr>
        <p:txBody>
          <a:bodyPr wrap="square">
            <a:spAutoFit/>
          </a:bodyPr>
          <a:lstStyle/>
          <a:p>
            <a:pPr algn="l"/>
            <a:r>
              <a:rPr sz="3600" b="1" i="0">
                <a:solidFill>
                  <a:srgbClr val="FFFFFF"/>
                </a:solidFill>
                <a:latin typeface="Calibri"/>
              </a:rPr>
              <a:t>Bring crores to your constituency.
Without spending a rupee of government funds.</a:t>
            </a:r>
          </a:p>
        </p:txBody>
      </p:sp>
      <p:sp>
        <p:nvSpPr>
          <p:cNvPr id="7" name="Rectangle 6"/>
          <p:cNvSpPr/>
          <p:nvPr/>
        </p:nvSpPr>
        <p:spPr>
          <a:xfrm>
            <a:off x="548640" y="20116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40280"/>
            <a:ext cx="3840480" cy="38404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40280"/>
            <a:ext cx="3840480"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468880"/>
            <a:ext cx="3840480" cy="914400"/>
          </a:xfrm>
          <a:prstGeom prst="rect">
            <a:avLst/>
          </a:prstGeom>
          <a:noFill/>
        </p:spPr>
        <p:txBody>
          <a:bodyPr wrap="square">
            <a:spAutoFit/>
          </a:bodyPr>
          <a:lstStyle/>
          <a:p>
            <a:pPr algn="ctr"/>
            <a:r>
              <a:rPr sz="3800" b="1" i="0">
                <a:solidFill>
                  <a:srgbClr val="138A3C"/>
                </a:solidFill>
                <a:latin typeface="Calibri"/>
              </a:rPr>
              <a:t>₹25,000 Cr+</a:t>
            </a:r>
          </a:p>
        </p:txBody>
      </p:sp>
      <p:sp>
        <p:nvSpPr>
          <p:cNvPr id="11" name="TextBox 10"/>
          <p:cNvSpPr txBox="1"/>
          <p:nvPr/>
        </p:nvSpPr>
        <p:spPr>
          <a:xfrm>
            <a:off x="457200" y="3337560"/>
            <a:ext cx="3840480" cy="594360"/>
          </a:xfrm>
          <a:prstGeom prst="rect">
            <a:avLst/>
          </a:prstGeom>
          <a:noFill/>
        </p:spPr>
        <p:txBody>
          <a:bodyPr wrap="square">
            <a:spAutoFit/>
          </a:bodyPr>
          <a:lstStyle/>
          <a:p>
            <a:pPr algn="ctr"/>
            <a:r>
              <a:rPr sz="1200" b="0" i="0">
                <a:solidFill>
                  <a:srgbClr val="D4E1ED"/>
                </a:solidFill>
                <a:latin typeface="Calibri"/>
              </a:rPr>
              <a:t>unspent corporate CSR funds
in India every year</a:t>
            </a:r>
          </a:p>
        </p:txBody>
      </p:sp>
      <p:sp>
        <p:nvSpPr>
          <p:cNvPr id="12" name="Rectangle 11"/>
          <p:cNvSpPr/>
          <p:nvPr/>
        </p:nvSpPr>
        <p:spPr>
          <a:xfrm>
            <a:off x="548640" y="402336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160520"/>
            <a:ext cx="3566160" cy="1005840"/>
          </a:xfrm>
          <a:prstGeom prst="rect">
            <a:avLst/>
          </a:prstGeom>
          <a:noFill/>
        </p:spPr>
        <p:txBody>
          <a:bodyPr wrap="square">
            <a:spAutoFit/>
          </a:bodyPr>
          <a:lstStyle/>
          <a:p>
            <a:pPr algn="l"/>
            <a:r>
              <a:rPr sz="1000" b="0" i="0">
                <a:solidFill>
                  <a:srgbClr val="D4E1ED"/>
                </a:solidFill>
                <a:latin typeface="Calibri"/>
              </a:rPr>
              <a:t>Most MPs never access this money because they don't know which companies are eligible, what they fund, or how to apply.</a:t>
            </a:r>
          </a:p>
        </p:txBody>
      </p:sp>
      <p:sp>
        <p:nvSpPr>
          <p:cNvPr id="14" name="Rectangle 13"/>
          <p:cNvSpPr/>
          <p:nvPr/>
        </p:nvSpPr>
        <p:spPr>
          <a:xfrm>
            <a:off x="4663440" y="2240280"/>
            <a:ext cx="7040880" cy="8686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63440" y="2240280"/>
            <a:ext cx="54864" cy="86868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313432"/>
            <a:ext cx="1828800" cy="347472"/>
          </a:xfrm>
          <a:prstGeom prst="rect">
            <a:avLst/>
          </a:prstGeom>
          <a:noFill/>
        </p:spPr>
        <p:txBody>
          <a:bodyPr wrap="square">
            <a:spAutoFit/>
          </a:bodyPr>
          <a:lstStyle/>
          <a:p>
            <a:pPr algn="l"/>
            <a:r>
              <a:rPr sz="1200" b="1" i="0">
                <a:solidFill>
                  <a:srgbClr val="FFFFFF"/>
                </a:solidFill>
                <a:latin typeface="Calibri"/>
              </a:rPr>
              <a:t>Gap Analysis</a:t>
            </a:r>
          </a:p>
        </p:txBody>
      </p:sp>
      <p:sp>
        <p:nvSpPr>
          <p:cNvPr id="17" name="TextBox 16"/>
          <p:cNvSpPr txBox="1"/>
          <p:nvPr/>
        </p:nvSpPr>
        <p:spPr>
          <a:xfrm>
            <a:off x="6766560" y="2313432"/>
            <a:ext cx="4754880" cy="685800"/>
          </a:xfrm>
          <a:prstGeom prst="rect">
            <a:avLst/>
          </a:prstGeom>
          <a:noFill/>
        </p:spPr>
        <p:txBody>
          <a:bodyPr wrap="square">
            <a:spAutoFit/>
          </a:bodyPr>
          <a:lstStyle/>
          <a:p>
            <a:pPr algn="l"/>
            <a:r>
              <a:rPr sz="1000" b="0" i="0">
                <a:solidFill>
                  <a:srgbClr val="D4E1ED"/>
                </a:solidFill>
                <a:latin typeface="Calibri"/>
              </a:rPr>
              <a:t>Needle reads your grievance data — your top complaint categories ARE your constituency's unmet needs. Water? Roads? Schools? It knows.</a:t>
            </a:r>
          </a:p>
        </p:txBody>
      </p:sp>
      <p:sp>
        <p:nvSpPr>
          <p:cNvPr id="18" name="Rectangle 17"/>
          <p:cNvSpPr/>
          <p:nvPr/>
        </p:nvSpPr>
        <p:spPr>
          <a:xfrm>
            <a:off x="4663440" y="3200400"/>
            <a:ext cx="7040880" cy="8686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63440" y="3200400"/>
            <a:ext cx="54864" cy="8686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28032" y="3273552"/>
            <a:ext cx="1828800" cy="347472"/>
          </a:xfrm>
          <a:prstGeom prst="rect">
            <a:avLst/>
          </a:prstGeom>
          <a:noFill/>
        </p:spPr>
        <p:txBody>
          <a:bodyPr wrap="square">
            <a:spAutoFit/>
          </a:bodyPr>
          <a:lstStyle/>
          <a:p>
            <a:pPr algn="l"/>
            <a:r>
              <a:rPr sz="1200" b="1" i="0">
                <a:solidFill>
                  <a:srgbClr val="FFFFFF"/>
                </a:solidFill>
                <a:latin typeface="Calibri"/>
              </a:rPr>
              <a:t>Company Matching</a:t>
            </a:r>
          </a:p>
        </p:txBody>
      </p:sp>
      <p:sp>
        <p:nvSpPr>
          <p:cNvPr id="21" name="TextBox 20"/>
          <p:cNvSpPr txBox="1"/>
          <p:nvPr/>
        </p:nvSpPr>
        <p:spPr>
          <a:xfrm>
            <a:off x="6766560" y="3273552"/>
            <a:ext cx="4754880" cy="685800"/>
          </a:xfrm>
          <a:prstGeom prst="rect">
            <a:avLst/>
          </a:prstGeom>
          <a:noFill/>
        </p:spPr>
        <p:txBody>
          <a:bodyPr wrap="square">
            <a:spAutoFit/>
          </a:bodyPr>
          <a:lstStyle/>
          <a:p>
            <a:pPr algn="l"/>
            <a:r>
              <a:rPr sz="1000" b="0" i="0">
                <a:solidFill>
                  <a:srgbClr val="D4E1ED"/>
                </a:solidFill>
                <a:latin typeface="Calibri"/>
              </a:rPr>
              <a:t>Cross-references complaint categories with companies that have CSR budgets in matching sectors. Finds the fit automatically.</a:t>
            </a:r>
          </a:p>
        </p:txBody>
      </p:sp>
      <p:sp>
        <p:nvSpPr>
          <p:cNvPr id="22" name="Rectangle 21"/>
          <p:cNvSpPr/>
          <p:nvPr/>
        </p:nvSpPr>
        <p:spPr>
          <a:xfrm>
            <a:off x="4663440" y="4160520"/>
            <a:ext cx="7040880" cy="8686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63440" y="4160520"/>
            <a:ext cx="54864" cy="868680"/>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28032" y="4233672"/>
            <a:ext cx="1828800" cy="347472"/>
          </a:xfrm>
          <a:prstGeom prst="rect">
            <a:avLst/>
          </a:prstGeom>
          <a:noFill/>
        </p:spPr>
        <p:txBody>
          <a:bodyPr wrap="square">
            <a:spAutoFit/>
          </a:bodyPr>
          <a:lstStyle/>
          <a:p>
            <a:pPr algn="l"/>
            <a:r>
              <a:rPr sz="1200" b="1" i="0">
                <a:solidFill>
                  <a:srgbClr val="FFFFFF"/>
                </a:solidFill>
                <a:latin typeface="Calibri"/>
              </a:rPr>
              <a:t>Proposal Generator</a:t>
            </a:r>
          </a:p>
        </p:txBody>
      </p:sp>
      <p:sp>
        <p:nvSpPr>
          <p:cNvPr id="25" name="TextBox 24"/>
          <p:cNvSpPr txBox="1"/>
          <p:nvPr/>
        </p:nvSpPr>
        <p:spPr>
          <a:xfrm>
            <a:off x="6766560" y="4233672"/>
            <a:ext cx="4754880" cy="685800"/>
          </a:xfrm>
          <a:prstGeom prst="rect">
            <a:avLst/>
          </a:prstGeom>
          <a:noFill/>
        </p:spPr>
        <p:txBody>
          <a:bodyPr wrap="square">
            <a:spAutoFit/>
          </a:bodyPr>
          <a:lstStyle/>
          <a:p>
            <a:pPr algn="l"/>
            <a:r>
              <a:rPr sz="1000" b="0" i="0">
                <a:solidFill>
                  <a:srgbClr val="D4E1ED"/>
                </a:solidFill>
                <a:latin typeface="Calibri"/>
              </a:rPr>
              <a:t>One click generates a formatted CSR proposal — project scope, budget, impact metrics, SDG alignment, Schedule VII compliance. Ready to send.</a:t>
            </a:r>
          </a:p>
        </p:txBody>
      </p:sp>
      <p:sp>
        <p:nvSpPr>
          <p:cNvPr id="26" name="Rectangle 25"/>
          <p:cNvSpPr/>
          <p:nvPr/>
        </p:nvSpPr>
        <p:spPr>
          <a:xfrm>
            <a:off x="4663440" y="5120640"/>
            <a:ext cx="7040880" cy="8686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63440" y="5120640"/>
            <a:ext cx="54864" cy="868680"/>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8032" y="5193792"/>
            <a:ext cx="1828800" cy="347472"/>
          </a:xfrm>
          <a:prstGeom prst="rect">
            <a:avLst/>
          </a:prstGeom>
          <a:noFill/>
        </p:spPr>
        <p:txBody>
          <a:bodyPr wrap="square">
            <a:spAutoFit/>
          </a:bodyPr>
          <a:lstStyle/>
          <a:p>
            <a:pPr algn="l"/>
            <a:r>
              <a:rPr sz="1200" b="1" i="0">
                <a:solidFill>
                  <a:srgbClr val="FFFFFF"/>
                </a:solidFill>
                <a:latin typeface="Calibri"/>
              </a:rPr>
              <a:t>Projects Menu</a:t>
            </a:r>
          </a:p>
        </p:txBody>
      </p:sp>
      <p:sp>
        <p:nvSpPr>
          <p:cNvPr id="29" name="TextBox 28"/>
          <p:cNvSpPr txBox="1"/>
          <p:nvPr/>
        </p:nvSpPr>
        <p:spPr>
          <a:xfrm>
            <a:off x="6766560" y="5193792"/>
            <a:ext cx="4754880" cy="685800"/>
          </a:xfrm>
          <a:prstGeom prst="rect">
            <a:avLst/>
          </a:prstGeom>
          <a:noFill/>
        </p:spPr>
        <p:txBody>
          <a:bodyPr wrap="square">
            <a:spAutoFit/>
          </a:bodyPr>
          <a:lstStyle/>
          <a:p>
            <a:pPr algn="l"/>
            <a:r>
              <a:rPr sz="1000" b="0" i="0">
                <a:solidFill>
                  <a:srgbClr val="D4E1ED"/>
                </a:solidFill>
                <a:latin typeface="Calibri"/>
              </a:rPr>
              <a:t>10+ pre-costed constituency projects: solar streetlights (₹25K), borewells (₹1.5L), RO plants (₹4.5L), smart classrooms (₹2.5L), health sub-centres (₹15L).</a:t>
            </a:r>
          </a:p>
        </p:txBody>
      </p:sp>
      <p:sp>
        <p:nvSpPr>
          <p:cNvPr id="30" name="TextBox 29"/>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377440" cy="32918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377440" cy="283464"/>
          </a:xfrm>
          <a:prstGeom prst="rect">
            <a:avLst/>
          </a:prstGeom>
          <a:noFill/>
        </p:spPr>
        <p:txBody>
          <a:bodyPr wrap="square">
            <a:spAutoFit/>
          </a:bodyPr>
          <a:lstStyle/>
          <a:p>
            <a:pPr algn="ctr"/>
            <a:r>
              <a:rPr sz="900" b="1" i="0">
                <a:solidFill>
                  <a:srgbClr val="07101E"/>
                </a:solidFill>
                <a:latin typeface="Calibri"/>
              </a:rPr>
              <a:t>MADE FOR YOUR ROLE</a:t>
            </a:r>
          </a:p>
        </p:txBody>
      </p:sp>
      <p:sp>
        <p:nvSpPr>
          <p:cNvPr id="6" name="TextBox 5"/>
          <p:cNvSpPr txBox="1"/>
          <p:nvPr/>
        </p:nvSpPr>
        <p:spPr>
          <a:xfrm>
            <a:off x="548640" y="685800"/>
            <a:ext cx="9144000" cy="1188720"/>
          </a:xfrm>
          <a:prstGeom prst="rect">
            <a:avLst/>
          </a:prstGeom>
          <a:noFill/>
        </p:spPr>
        <p:txBody>
          <a:bodyPr wrap="square">
            <a:spAutoFit/>
          </a:bodyPr>
          <a:lstStyle/>
          <a:p>
            <a:pPr algn="l"/>
            <a:r>
              <a:rPr sz="3600" b="1" i="0">
                <a:solidFill>
                  <a:srgbClr val="FFFFFF"/>
                </a:solidFill>
                <a:latin typeface="Calibri"/>
              </a:rPr>
              <a:t>Whether you hold a seat or want one —
Needle is built for you.</a:t>
            </a:r>
          </a:p>
        </p:txBody>
      </p:sp>
      <p:sp>
        <p:nvSpPr>
          <p:cNvPr id="7" name="Rectangle 6"/>
          <p:cNvSpPr/>
          <p:nvPr/>
        </p:nvSpPr>
        <p:spPr>
          <a:xfrm>
            <a:off x="548640" y="192024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2057400"/>
            <a:ext cx="2651760" cy="38404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2057400"/>
            <a:ext cx="2651760" cy="50292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2103120"/>
            <a:ext cx="2651760" cy="457200"/>
          </a:xfrm>
          <a:prstGeom prst="rect">
            <a:avLst/>
          </a:prstGeom>
          <a:noFill/>
        </p:spPr>
        <p:txBody>
          <a:bodyPr wrap="square">
            <a:spAutoFit/>
          </a:bodyPr>
          <a:lstStyle/>
          <a:p>
            <a:pPr algn="ctr"/>
            <a:r>
              <a:rPr sz="1100" b="1" i="0">
                <a:solidFill>
                  <a:srgbClr val="07101E"/>
                </a:solidFill>
                <a:latin typeface="Calibri"/>
              </a:rPr>
              <a:t>MP
(Lok Sabha / Rajya Sabha)</a:t>
            </a:r>
          </a:p>
        </p:txBody>
      </p:sp>
      <p:sp>
        <p:nvSpPr>
          <p:cNvPr id="11" name="TextBox 10"/>
          <p:cNvSpPr txBox="1"/>
          <p:nvPr/>
        </p:nvSpPr>
        <p:spPr>
          <a:xfrm>
            <a:off x="502920" y="2715768"/>
            <a:ext cx="2514600" cy="411480"/>
          </a:xfrm>
          <a:prstGeom prst="rect">
            <a:avLst/>
          </a:prstGeom>
          <a:noFill/>
        </p:spPr>
        <p:txBody>
          <a:bodyPr wrap="square">
            <a:spAutoFit/>
          </a:bodyPr>
          <a:lstStyle/>
          <a:p>
            <a:pPr algn="l"/>
            <a:r>
              <a:rPr sz="900" b="0" i="0">
                <a:solidFill>
                  <a:srgbClr val="D4E1ED"/>
                </a:solidFill>
                <a:latin typeface="Calibri"/>
              </a:rPr>
              <a:t>›  Parliament Questions: Starred, Unstarred, Short Notice</a:t>
            </a:r>
          </a:p>
        </p:txBody>
      </p:sp>
      <p:sp>
        <p:nvSpPr>
          <p:cNvPr id="12" name="TextBox 11"/>
          <p:cNvSpPr txBox="1"/>
          <p:nvPr/>
        </p:nvSpPr>
        <p:spPr>
          <a:xfrm>
            <a:off x="502920" y="3218688"/>
            <a:ext cx="2514600" cy="411480"/>
          </a:xfrm>
          <a:prstGeom prst="rect">
            <a:avLst/>
          </a:prstGeom>
          <a:noFill/>
        </p:spPr>
        <p:txBody>
          <a:bodyPr wrap="square">
            <a:spAutoFit/>
          </a:bodyPr>
          <a:lstStyle/>
          <a:p>
            <a:pPr algn="l"/>
            <a:r>
              <a:rPr sz="900" b="0" i="0">
                <a:solidFill>
                  <a:srgbClr val="D4E1ED"/>
                </a:solidFill>
                <a:latin typeface="Calibri"/>
              </a:rPr>
              <a:t>›  Private Member Bill drafting with full clause format</a:t>
            </a:r>
          </a:p>
        </p:txBody>
      </p:sp>
      <p:sp>
        <p:nvSpPr>
          <p:cNvPr id="13" name="TextBox 12"/>
          <p:cNvSpPr txBox="1"/>
          <p:nvPr/>
        </p:nvSpPr>
        <p:spPr>
          <a:xfrm>
            <a:off x="502920" y="3721608"/>
            <a:ext cx="2514600" cy="411480"/>
          </a:xfrm>
          <a:prstGeom prst="rect">
            <a:avLst/>
          </a:prstGeom>
          <a:noFill/>
        </p:spPr>
        <p:txBody>
          <a:bodyPr wrap="square">
            <a:spAutoFit/>
          </a:bodyPr>
          <a:lstStyle/>
          <a:p>
            <a:pPr algn="l"/>
            <a:r>
              <a:rPr sz="900" b="0" i="0">
                <a:solidFill>
                  <a:srgbClr val="D4E1ED"/>
                </a:solidFill>
                <a:latin typeface="Calibri"/>
              </a:rPr>
              <a:t>›  Ministry fund tracking — know where your constituency's share goes</a:t>
            </a:r>
          </a:p>
        </p:txBody>
      </p:sp>
      <p:sp>
        <p:nvSpPr>
          <p:cNvPr id="14" name="TextBox 13"/>
          <p:cNvSpPr txBox="1"/>
          <p:nvPr/>
        </p:nvSpPr>
        <p:spPr>
          <a:xfrm>
            <a:off x="502920" y="4224528"/>
            <a:ext cx="2514600" cy="411480"/>
          </a:xfrm>
          <a:prstGeom prst="rect">
            <a:avLst/>
          </a:prstGeom>
          <a:noFill/>
        </p:spPr>
        <p:txBody>
          <a:bodyPr wrap="square">
            <a:spAutoFit/>
          </a:bodyPr>
          <a:lstStyle/>
          <a:p>
            <a:pPr algn="l"/>
            <a:r>
              <a:rPr sz="900" b="0" i="0">
                <a:solidFill>
                  <a:srgbClr val="D4E1ED"/>
                </a:solidFill>
                <a:latin typeface="Calibri"/>
              </a:rPr>
              <a:t>›  Committee work support and brief preparation</a:t>
            </a:r>
          </a:p>
        </p:txBody>
      </p:sp>
      <p:sp>
        <p:nvSpPr>
          <p:cNvPr id="15" name="TextBox 14"/>
          <p:cNvSpPr txBox="1"/>
          <p:nvPr/>
        </p:nvSpPr>
        <p:spPr>
          <a:xfrm>
            <a:off x="502920" y="4727448"/>
            <a:ext cx="2514600" cy="411480"/>
          </a:xfrm>
          <a:prstGeom prst="rect">
            <a:avLst/>
          </a:prstGeom>
          <a:noFill/>
        </p:spPr>
        <p:txBody>
          <a:bodyPr wrap="square">
            <a:spAutoFit/>
          </a:bodyPr>
          <a:lstStyle/>
          <a:p>
            <a:pPr algn="l"/>
            <a:r>
              <a:rPr sz="900" b="0" i="0">
                <a:solidFill>
                  <a:srgbClr val="D4E1ED"/>
                </a:solidFill>
                <a:latin typeface="Calibri"/>
              </a:rPr>
              <a:t>›  Sansad TV case tracking (SansadX integration)</a:t>
            </a:r>
          </a:p>
        </p:txBody>
      </p:sp>
      <p:sp>
        <p:nvSpPr>
          <p:cNvPr id="16" name="TextBox 15"/>
          <p:cNvSpPr txBox="1"/>
          <p:nvPr/>
        </p:nvSpPr>
        <p:spPr>
          <a:xfrm>
            <a:off x="502920" y="5230368"/>
            <a:ext cx="2514600" cy="411480"/>
          </a:xfrm>
          <a:prstGeom prst="rect">
            <a:avLst/>
          </a:prstGeom>
          <a:noFill/>
        </p:spPr>
        <p:txBody>
          <a:bodyPr wrap="square">
            <a:spAutoFit/>
          </a:bodyPr>
          <a:lstStyle/>
          <a:p>
            <a:pPr algn="l"/>
            <a:r>
              <a:rPr sz="900" b="0" i="0">
                <a:solidFill>
                  <a:srgbClr val="D4E1ED"/>
                </a:solidFill>
                <a:latin typeface="Calibri"/>
              </a:rPr>
              <a:t>›  Constituency grievance dashboard across all Assembly segments</a:t>
            </a:r>
          </a:p>
        </p:txBody>
      </p:sp>
      <p:sp>
        <p:nvSpPr>
          <p:cNvPr id="17" name="Rectangle 16"/>
          <p:cNvSpPr/>
          <p:nvPr/>
        </p:nvSpPr>
        <p:spPr>
          <a:xfrm>
            <a:off x="3291840" y="2057400"/>
            <a:ext cx="2651760" cy="38404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91840" y="2057400"/>
            <a:ext cx="2651760" cy="502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91840" y="2103120"/>
            <a:ext cx="2651760" cy="457200"/>
          </a:xfrm>
          <a:prstGeom prst="rect">
            <a:avLst/>
          </a:prstGeom>
          <a:noFill/>
        </p:spPr>
        <p:txBody>
          <a:bodyPr wrap="square">
            <a:spAutoFit/>
          </a:bodyPr>
          <a:lstStyle/>
          <a:p>
            <a:pPr algn="ctr"/>
            <a:r>
              <a:rPr sz="1100" b="1" i="0">
                <a:solidFill>
                  <a:srgbClr val="07101E"/>
                </a:solidFill>
                <a:latin typeface="Calibri"/>
              </a:rPr>
              <a:t>MLA
(State Assembly)</a:t>
            </a:r>
          </a:p>
        </p:txBody>
      </p:sp>
      <p:sp>
        <p:nvSpPr>
          <p:cNvPr id="20" name="TextBox 19"/>
          <p:cNvSpPr txBox="1"/>
          <p:nvPr/>
        </p:nvSpPr>
        <p:spPr>
          <a:xfrm>
            <a:off x="3383280" y="2715768"/>
            <a:ext cx="2514600" cy="411480"/>
          </a:xfrm>
          <a:prstGeom prst="rect">
            <a:avLst/>
          </a:prstGeom>
          <a:noFill/>
        </p:spPr>
        <p:txBody>
          <a:bodyPr wrap="square">
            <a:spAutoFit/>
          </a:bodyPr>
          <a:lstStyle/>
          <a:p>
            <a:pPr algn="l"/>
            <a:r>
              <a:rPr sz="900" b="0" i="0">
                <a:solidFill>
                  <a:srgbClr val="D4E1ED"/>
                </a:solidFill>
                <a:latin typeface="Calibri"/>
              </a:rPr>
              <a:t>›  State-level scheme delivery tracking (MGNREGA, PMAY, Jal Jeevan)</a:t>
            </a:r>
          </a:p>
        </p:txBody>
      </p:sp>
      <p:sp>
        <p:nvSpPr>
          <p:cNvPr id="21" name="TextBox 20"/>
          <p:cNvSpPr txBox="1"/>
          <p:nvPr/>
        </p:nvSpPr>
        <p:spPr>
          <a:xfrm>
            <a:off x="3383280" y="3218688"/>
            <a:ext cx="2514600" cy="411480"/>
          </a:xfrm>
          <a:prstGeom prst="rect">
            <a:avLst/>
          </a:prstGeom>
          <a:noFill/>
        </p:spPr>
        <p:txBody>
          <a:bodyPr wrap="square">
            <a:spAutoFit/>
          </a:bodyPr>
          <a:lstStyle/>
          <a:p>
            <a:pPr algn="l"/>
            <a:r>
              <a:rPr sz="900" b="0" i="0">
                <a:solidFill>
                  <a:srgbClr val="D4E1ED"/>
                </a:solidFill>
                <a:latin typeface="Calibri"/>
              </a:rPr>
              <a:t>›  Vidhansabha question drafting in state language + Hindi</a:t>
            </a:r>
          </a:p>
        </p:txBody>
      </p:sp>
      <p:sp>
        <p:nvSpPr>
          <p:cNvPr id="22" name="TextBox 21"/>
          <p:cNvSpPr txBox="1"/>
          <p:nvPr/>
        </p:nvSpPr>
        <p:spPr>
          <a:xfrm>
            <a:off x="3383280" y="3721608"/>
            <a:ext cx="2514600" cy="411480"/>
          </a:xfrm>
          <a:prstGeom prst="rect">
            <a:avLst/>
          </a:prstGeom>
          <a:noFill/>
        </p:spPr>
        <p:txBody>
          <a:bodyPr wrap="square">
            <a:spAutoFit/>
          </a:bodyPr>
          <a:lstStyle/>
          <a:p>
            <a:pPr algn="l"/>
            <a:r>
              <a:rPr sz="900" b="0" i="0">
                <a:solidFill>
                  <a:srgbClr val="D4E1ED"/>
                </a:solidFill>
                <a:latin typeface="Calibri"/>
              </a:rPr>
              <a:t>›  MLAS fund project pipeline and CSR matching</a:t>
            </a:r>
          </a:p>
        </p:txBody>
      </p:sp>
      <p:sp>
        <p:nvSpPr>
          <p:cNvPr id="23" name="TextBox 22"/>
          <p:cNvSpPr txBox="1"/>
          <p:nvPr/>
        </p:nvSpPr>
        <p:spPr>
          <a:xfrm>
            <a:off x="3383280" y="4224528"/>
            <a:ext cx="2514600" cy="411480"/>
          </a:xfrm>
          <a:prstGeom prst="rect">
            <a:avLst/>
          </a:prstGeom>
          <a:noFill/>
        </p:spPr>
        <p:txBody>
          <a:bodyPr wrap="square">
            <a:spAutoFit/>
          </a:bodyPr>
          <a:lstStyle/>
          <a:p>
            <a:pPr algn="l"/>
            <a:r>
              <a:rPr sz="900" b="0" i="0">
                <a:solidFill>
                  <a:srgbClr val="D4E1ED"/>
                </a:solidFill>
                <a:latin typeface="Calibri"/>
              </a:rPr>
              <a:t>›  Constituency development: road, water, health complaints</a:t>
            </a:r>
          </a:p>
        </p:txBody>
      </p:sp>
      <p:sp>
        <p:nvSpPr>
          <p:cNvPr id="24" name="TextBox 23"/>
          <p:cNvSpPr txBox="1"/>
          <p:nvPr/>
        </p:nvSpPr>
        <p:spPr>
          <a:xfrm>
            <a:off x="3383280" y="4727448"/>
            <a:ext cx="2514600" cy="411480"/>
          </a:xfrm>
          <a:prstGeom prst="rect">
            <a:avLst/>
          </a:prstGeom>
          <a:noFill/>
        </p:spPr>
        <p:txBody>
          <a:bodyPr wrap="square">
            <a:spAutoFit/>
          </a:bodyPr>
          <a:lstStyle/>
          <a:p>
            <a:pPr algn="l"/>
            <a:r>
              <a:rPr sz="900" b="0" i="0">
                <a:solidFill>
                  <a:srgbClr val="D4E1ED"/>
                </a:solidFill>
                <a:latin typeface="Calibri"/>
              </a:rPr>
              <a:t>›  Booth-level grievance mapping with geography engine</a:t>
            </a:r>
          </a:p>
        </p:txBody>
      </p:sp>
      <p:sp>
        <p:nvSpPr>
          <p:cNvPr id="25" name="TextBox 24"/>
          <p:cNvSpPr txBox="1"/>
          <p:nvPr/>
        </p:nvSpPr>
        <p:spPr>
          <a:xfrm>
            <a:off x="3383280" y="5230368"/>
            <a:ext cx="2514600" cy="411480"/>
          </a:xfrm>
          <a:prstGeom prst="rect">
            <a:avLst/>
          </a:prstGeom>
          <a:noFill/>
        </p:spPr>
        <p:txBody>
          <a:bodyPr wrap="square">
            <a:spAutoFit/>
          </a:bodyPr>
          <a:lstStyle/>
          <a:p>
            <a:pPr algn="l"/>
            <a:r>
              <a:rPr sz="900" b="0" i="0">
                <a:solidFill>
                  <a:srgbClr val="D4E1ED"/>
                </a:solidFill>
                <a:latin typeface="Calibri"/>
              </a:rPr>
              <a:t>›  State budget analysis and response speech drafting</a:t>
            </a:r>
          </a:p>
        </p:txBody>
      </p:sp>
      <p:sp>
        <p:nvSpPr>
          <p:cNvPr id="26" name="Rectangle 25"/>
          <p:cNvSpPr/>
          <p:nvPr/>
        </p:nvSpPr>
        <p:spPr>
          <a:xfrm>
            <a:off x="6172200" y="2057400"/>
            <a:ext cx="2651760" cy="38404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2057400"/>
            <a:ext cx="2651760" cy="502920"/>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72200" y="2103120"/>
            <a:ext cx="2651760" cy="457200"/>
          </a:xfrm>
          <a:prstGeom prst="rect">
            <a:avLst/>
          </a:prstGeom>
          <a:noFill/>
        </p:spPr>
        <p:txBody>
          <a:bodyPr wrap="square">
            <a:spAutoFit/>
          </a:bodyPr>
          <a:lstStyle/>
          <a:p>
            <a:pPr algn="ctr"/>
            <a:r>
              <a:rPr sz="1100" b="1" i="0">
                <a:solidFill>
                  <a:srgbClr val="FFFFFF"/>
                </a:solidFill>
                <a:latin typeface="Calibri"/>
              </a:rPr>
              <a:t>Municipal Councillor /
Panchayat Member</a:t>
            </a:r>
          </a:p>
        </p:txBody>
      </p:sp>
      <p:sp>
        <p:nvSpPr>
          <p:cNvPr id="29" name="TextBox 28"/>
          <p:cNvSpPr txBox="1"/>
          <p:nvPr/>
        </p:nvSpPr>
        <p:spPr>
          <a:xfrm>
            <a:off x="6263640" y="2715768"/>
            <a:ext cx="2514600" cy="411480"/>
          </a:xfrm>
          <a:prstGeom prst="rect">
            <a:avLst/>
          </a:prstGeom>
          <a:noFill/>
        </p:spPr>
        <p:txBody>
          <a:bodyPr wrap="square">
            <a:spAutoFit/>
          </a:bodyPr>
          <a:lstStyle/>
          <a:p>
            <a:pPr algn="l"/>
            <a:r>
              <a:rPr sz="900" b="0" i="0">
                <a:solidFill>
                  <a:srgbClr val="D4E1ED"/>
                </a:solidFill>
                <a:latin typeface="Calibri"/>
              </a:rPr>
              <a:t>›  Ward-level complaint tracker: roads, drains, lights, water supply</a:t>
            </a:r>
          </a:p>
        </p:txBody>
      </p:sp>
      <p:sp>
        <p:nvSpPr>
          <p:cNvPr id="30" name="TextBox 29"/>
          <p:cNvSpPr txBox="1"/>
          <p:nvPr/>
        </p:nvSpPr>
        <p:spPr>
          <a:xfrm>
            <a:off x="6263640" y="3218688"/>
            <a:ext cx="2514600" cy="411480"/>
          </a:xfrm>
          <a:prstGeom prst="rect">
            <a:avLst/>
          </a:prstGeom>
          <a:noFill/>
        </p:spPr>
        <p:txBody>
          <a:bodyPr wrap="square">
            <a:spAutoFit/>
          </a:bodyPr>
          <a:lstStyle/>
          <a:p>
            <a:pPr algn="l"/>
            <a:r>
              <a:rPr sz="900" b="0" i="0">
                <a:solidFill>
                  <a:srgbClr val="D4E1ED"/>
                </a:solidFill>
                <a:latin typeface="Calibri"/>
              </a:rPr>
              <a:t>›  Grievance-to-action pipeline with WhatsApp intake</a:t>
            </a:r>
          </a:p>
        </p:txBody>
      </p:sp>
      <p:sp>
        <p:nvSpPr>
          <p:cNvPr id="31" name="TextBox 30"/>
          <p:cNvSpPr txBox="1"/>
          <p:nvPr/>
        </p:nvSpPr>
        <p:spPr>
          <a:xfrm>
            <a:off x="6263640" y="3721608"/>
            <a:ext cx="2514600" cy="411480"/>
          </a:xfrm>
          <a:prstGeom prst="rect">
            <a:avLst/>
          </a:prstGeom>
          <a:noFill/>
        </p:spPr>
        <p:txBody>
          <a:bodyPr wrap="square">
            <a:spAutoFit/>
          </a:bodyPr>
          <a:lstStyle/>
          <a:p>
            <a:pPr algn="l"/>
            <a:r>
              <a:rPr sz="900" b="0" i="0">
                <a:solidFill>
                  <a:srgbClr val="D4E1ED"/>
                </a:solidFill>
                <a:latin typeface="Calibri"/>
              </a:rPr>
              <a:t>›  Simple case dashboard: pending → in-progress → resolved</a:t>
            </a:r>
          </a:p>
        </p:txBody>
      </p:sp>
      <p:sp>
        <p:nvSpPr>
          <p:cNvPr id="32" name="TextBox 31"/>
          <p:cNvSpPr txBox="1"/>
          <p:nvPr/>
        </p:nvSpPr>
        <p:spPr>
          <a:xfrm>
            <a:off x="6263640" y="4224528"/>
            <a:ext cx="2514600" cy="411480"/>
          </a:xfrm>
          <a:prstGeom prst="rect">
            <a:avLst/>
          </a:prstGeom>
          <a:noFill/>
        </p:spPr>
        <p:txBody>
          <a:bodyPr wrap="square">
            <a:spAutoFit/>
          </a:bodyPr>
          <a:lstStyle/>
          <a:p>
            <a:pPr algn="l"/>
            <a:r>
              <a:rPr sz="900" b="0" i="0">
                <a:solidFill>
                  <a:srgbClr val="D4E1ED"/>
                </a:solidFill>
                <a:latin typeface="Calibri"/>
              </a:rPr>
              <a:t>›  Direct document drafting: letters to BMC / corporation / collector</a:t>
            </a:r>
          </a:p>
        </p:txBody>
      </p:sp>
      <p:sp>
        <p:nvSpPr>
          <p:cNvPr id="33" name="TextBox 32"/>
          <p:cNvSpPr txBox="1"/>
          <p:nvPr/>
        </p:nvSpPr>
        <p:spPr>
          <a:xfrm>
            <a:off x="6263640" y="4727448"/>
            <a:ext cx="2514600" cy="411480"/>
          </a:xfrm>
          <a:prstGeom prst="rect">
            <a:avLst/>
          </a:prstGeom>
          <a:noFill/>
        </p:spPr>
        <p:txBody>
          <a:bodyPr wrap="square">
            <a:spAutoFit/>
          </a:bodyPr>
          <a:lstStyle/>
          <a:p>
            <a:pPr algn="l"/>
            <a:r>
              <a:rPr sz="900" b="0" i="0">
                <a:solidFill>
                  <a:srgbClr val="D4E1ED"/>
                </a:solidFill>
                <a:latin typeface="Calibri"/>
              </a:rPr>
              <a:t>›  CSR micro-projects for ward (₹25K – ₹5L scale)</a:t>
            </a:r>
          </a:p>
        </p:txBody>
      </p:sp>
      <p:sp>
        <p:nvSpPr>
          <p:cNvPr id="34" name="TextBox 33"/>
          <p:cNvSpPr txBox="1"/>
          <p:nvPr/>
        </p:nvSpPr>
        <p:spPr>
          <a:xfrm>
            <a:off x="6263640" y="5230368"/>
            <a:ext cx="2514600" cy="411480"/>
          </a:xfrm>
          <a:prstGeom prst="rect">
            <a:avLst/>
          </a:prstGeom>
          <a:noFill/>
        </p:spPr>
        <p:txBody>
          <a:bodyPr wrap="square">
            <a:spAutoFit/>
          </a:bodyPr>
          <a:lstStyle/>
          <a:p>
            <a:pPr algn="l"/>
            <a:r>
              <a:rPr sz="900" b="0" i="0">
                <a:solidFill>
                  <a:srgbClr val="D4E1ED"/>
                </a:solidFill>
                <a:latin typeface="Calibri"/>
              </a:rPr>
              <a:t>›  Ward health score: % issues resolved per month</a:t>
            </a:r>
          </a:p>
        </p:txBody>
      </p:sp>
      <p:sp>
        <p:nvSpPr>
          <p:cNvPr id="35" name="Rectangle 34"/>
          <p:cNvSpPr/>
          <p:nvPr/>
        </p:nvSpPr>
        <p:spPr>
          <a:xfrm>
            <a:off x="9052560" y="2057400"/>
            <a:ext cx="2651760" cy="38404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52560" y="2057400"/>
            <a:ext cx="2651760"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52560" y="2103120"/>
            <a:ext cx="2651760" cy="457200"/>
          </a:xfrm>
          <a:prstGeom prst="rect">
            <a:avLst/>
          </a:prstGeom>
          <a:noFill/>
        </p:spPr>
        <p:txBody>
          <a:bodyPr wrap="square">
            <a:spAutoFit/>
          </a:bodyPr>
          <a:lstStyle/>
          <a:p>
            <a:pPr algn="ctr"/>
            <a:r>
              <a:rPr sz="1100" b="1" i="0">
                <a:solidFill>
                  <a:srgbClr val="FFFFFF"/>
                </a:solidFill>
                <a:latin typeface="Calibri"/>
              </a:rPr>
              <a:t>Election Aspirant /
Candidate-in-Waiting</a:t>
            </a:r>
          </a:p>
        </p:txBody>
      </p:sp>
      <p:sp>
        <p:nvSpPr>
          <p:cNvPr id="38" name="TextBox 37"/>
          <p:cNvSpPr txBox="1"/>
          <p:nvPr/>
        </p:nvSpPr>
        <p:spPr>
          <a:xfrm>
            <a:off x="9144000" y="2715768"/>
            <a:ext cx="2514600" cy="411480"/>
          </a:xfrm>
          <a:prstGeom prst="rect">
            <a:avLst/>
          </a:prstGeom>
          <a:noFill/>
        </p:spPr>
        <p:txBody>
          <a:bodyPr wrap="square">
            <a:spAutoFit/>
          </a:bodyPr>
          <a:lstStyle/>
          <a:p>
            <a:pPr algn="l"/>
            <a:r>
              <a:rPr sz="900" b="0" i="0">
                <a:solidFill>
                  <a:srgbClr val="D4E1ED"/>
                </a:solidFill>
                <a:latin typeface="Calibri"/>
              </a:rPr>
              <a:t>›  Start listening to your constituency NOW — before you win</a:t>
            </a:r>
          </a:p>
        </p:txBody>
      </p:sp>
      <p:sp>
        <p:nvSpPr>
          <p:cNvPr id="39" name="TextBox 38"/>
          <p:cNvSpPr txBox="1"/>
          <p:nvPr/>
        </p:nvSpPr>
        <p:spPr>
          <a:xfrm>
            <a:off x="9144000" y="3218688"/>
            <a:ext cx="2514600" cy="411480"/>
          </a:xfrm>
          <a:prstGeom prst="rect">
            <a:avLst/>
          </a:prstGeom>
          <a:noFill/>
        </p:spPr>
        <p:txBody>
          <a:bodyPr wrap="square">
            <a:spAutoFit/>
          </a:bodyPr>
          <a:lstStyle/>
          <a:p>
            <a:pPr algn="l"/>
            <a:r>
              <a:rPr sz="900" b="0" i="0">
                <a:solidFill>
                  <a:srgbClr val="D4E1ED"/>
                </a:solidFill>
                <a:latin typeface="Calibri"/>
              </a:rPr>
              <a:t>›  Build a database of citizen problems by booth and ward</a:t>
            </a:r>
          </a:p>
        </p:txBody>
      </p:sp>
      <p:sp>
        <p:nvSpPr>
          <p:cNvPr id="40" name="TextBox 39"/>
          <p:cNvSpPr txBox="1"/>
          <p:nvPr/>
        </p:nvSpPr>
        <p:spPr>
          <a:xfrm>
            <a:off x="9144000" y="3721608"/>
            <a:ext cx="2514600" cy="411480"/>
          </a:xfrm>
          <a:prstGeom prst="rect">
            <a:avLst/>
          </a:prstGeom>
          <a:noFill/>
        </p:spPr>
        <p:txBody>
          <a:bodyPr wrap="square">
            <a:spAutoFit/>
          </a:bodyPr>
          <a:lstStyle/>
          <a:p>
            <a:pPr algn="l"/>
            <a:r>
              <a:rPr sz="900" b="0" i="0">
                <a:solidFill>
                  <a:srgbClr val="D4E1ED"/>
                </a:solidFill>
                <a:latin typeface="Calibri"/>
              </a:rPr>
              <a:t>›  Understand top 5 issues before your first campaign speech</a:t>
            </a:r>
          </a:p>
        </p:txBody>
      </p:sp>
      <p:sp>
        <p:nvSpPr>
          <p:cNvPr id="41" name="TextBox 40"/>
          <p:cNvSpPr txBox="1"/>
          <p:nvPr/>
        </p:nvSpPr>
        <p:spPr>
          <a:xfrm>
            <a:off x="9144000" y="4224528"/>
            <a:ext cx="2514600" cy="411480"/>
          </a:xfrm>
          <a:prstGeom prst="rect">
            <a:avLst/>
          </a:prstGeom>
          <a:noFill/>
        </p:spPr>
        <p:txBody>
          <a:bodyPr wrap="square">
            <a:spAutoFit/>
          </a:bodyPr>
          <a:lstStyle/>
          <a:p>
            <a:pPr algn="l"/>
            <a:r>
              <a:rPr sz="900" b="0" i="0">
                <a:solidFill>
                  <a:srgbClr val="D4E1ED"/>
                </a:solidFill>
                <a:latin typeface="Calibri"/>
              </a:rPr>
              <a:t>›  Draft your manifesto from real complaint data — not assumptions</a:t>
            </a:r>
          </a:p>
        </p:txBody>
      </p:sp>
      <p:sp>
        <p:nvSpPr>
          <p:cNvPr id="42" name="TextBox 41"/>
          <p:cNvSpPr txBox="1"/>
          <p:nvPr/>
        </p:nvSpPr>
        <p:spPr>
          <a:xfrm>
            <a:off x="9144000" y="4727448"/>
            <a:ext cx="2514600" cy="411480"/>
          </a:xfrm>
          <a:prstGeom prst="rect">
            <a:avLst/>
          </a:prstGeom>
          <a:noFill/>
        </p:spPr>
        <p:txBody>
          <a:bodyPr wrap="square">
            <a:spAutoFit/>
          </a:bodyPr>
          <a:lstStyle/>
          <a:p>
            <a:pPr algn="l"/>
            <a:r>
              <a:rPr sz="900" b="0" i="0">
                <a:solidFill>
                  <a:srgbClr val="D4E1ED"/>
                </a:solidFill>
                <a:latin typeface="Calibri"/>
              </a:rPr>
              <a:t>›  Establish a WhatsApp presence as 'the candidate who cares'</a:t>
            </a:r>
          </a:p>
        </p:txBody>
      </p:sp>
      <p:sp>
        <p:nvSpPr>
          <p:cNvPr id="43" name="TextBox 42"/>
          <p:cNvSpPr txBox="1"/>
          <p:nvPr/>
        </p:nvSpPr>
        <p:spPr>
          <a:xfrm>
            <a:off x="9144000" y="5230368"/>
            <a:ext cx="2514600" cy="411480"/>
          </a:xfrm>
          <a:prstGeom prst="rect">
            <a:avLst/>
          </a:prstGeom>
          <a:noFill/>
        </p:spPr>
        <p:txBody>
          <a:bodyPr wrap="square">
            <a:spAutoFit/>
          </a:bodyPr>
          <a:lstStyle/>
          <a:p>
            <a:pPr algn="l"/>
            <a:r>
              <a:rPr sz="900" b="0" i="0">
                <a:solidFill>
                  <a:srgbClr val="D4E1ED"/>
                </a:solidFill>
                <a:latin typeface="Calibri"/>
              </a:rPr>
              <a:t>›  Know the CSR landscape: promise real projects with real funding</a:t>
            </a:r>
          </a:p>
        </p:txBody>
      </p:sp>
      <p:sp>
        <p:nvSpPr>
          <p:cNvPr id="44" name="TextBox 43"/>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743200" cy="329184"/>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743200" cy="283464"/>
          </a:xfrm>
          <a:prstGeom prst="rect">
            <a:avLst/>
          </a:prstGeom>
          <a:noFill/>
        </p:spPr>
        <p:txBody>
          <a:bodyPr wrap="square">
            <a:spAutoFit/>
          </a:bodyPr>
          <a:lstStyle/>
          <a:p>
            <a:pPr algn="ctr"/>
            <a:r>
              <a:rPr sz="900" b="1" i="0">
                <a:solidFill>
                  <a:srgbClr val="FFFFFF"/>
                </a:solidFill>
                <a:latin typeface="Calibri"/>
              </a:rPr>
              <a:t>THE COMPETITIVE REALITY</a:t>
            </a:r>
          </a:p>
        </p:txBody>
      </p:sp>
      <p:sp>
        <p:nvSpPr>
          <p:cNvPr id="6" name="TextBox 5"/>
          <p:cNvSpPr txBox="1"/>
          <p:nvPr/>
        </p:nvSpPr>
        <p:spPr>
          <a:xfrm>
            <a:off x="548640" y="685800"/>
            <a:ext cx="8229600" cy="1280160"/>
          </a:xfrm>
          <a:prstGeom prst="rect">
            <a:avLst/>
          </a:prstGeom>
          <a:noFill/>
        </p:spPr>
        <p:txBody>
          <a:bodyPr wrap="square">
            <a:spAutoFit/>
          </a:bodyPr>
          <a:lstStyle/>
          <a:p>
            <a:pPr algn="l"/>
            <a:r>
              <a:rPr sz="3800" b="1" i="0">
                <a:solidFill>
                  <a:srgbClr val="FFFFFF"/>
                </a:solidFill>
                <a:latin typeface="Calibri"/>
              </a:rPr>
              <a:t>Your opponent isn't sleeping.
Are you ahead — or behind?</a:t>
            </a:r>
          </a:p>
        </p:txBody>
      </p:sp>
      <p:sp>
        <p:nvSpPr>
          <p:cNvPr id="7" name="Rectangle 6"/>
          <p:cNvSpPr/>
          <p:nvPr/>
        </p:nvSpPr>
        <p:spPr>
          <a:xfrm>
            <a:off x="548640" y="20116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12848"/>
            <a:ext cx="10789920" cy="393192"/>
          </a:xfrm>
          <a:prstGeom prst="rect">
            <a:avLst/>
          </a:prstGeom>
          <a:solidFill>
            <a:srgbClr val="10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276856"/>
            <a:ext cx="3977640" cy="320040"/>
          </a:xfrm>
          <a:prstGeom prst="rect">
            <a:avLst/>
          </a:prstGeom>
          <a:noFill/>
        </p:spPr>
        <p:txBody>
          <a:bodyPr wrap="square">
            <a:spAutoFit/>
          </a:bodyPr>
          <a:lstStyle/>
          <a:p>
            <a:pPr algn="l"/>
            <a:r>
              <a:rPr sz="1000" b="1" i="0">
                <a:solidFill>
                  <a:srgbClr val="F5C518"/>
                </a:solidFill>
                <a:latin typeface="Calibri"/>
              </a:rPr>
              <a:t>CAPABILITY</a:t>
            </a:r>
          </a:p>
        </p:txBody>
      </p:sp>
      <p:sp>
        <p:nvSpPr>
          <p:cNvPr id="10" name="TextBox 9"/>
          <p:cNvSpPr txBox="1"/>
          <p:nvPr/>
        </p:nvSpPr>
        <p:spPr>
          <a:xfrm>
            <a:off x="4754880" y="2276856"/>
            <a:ext cx="2880360" cy="320040"/>
          </a:xfrm>
          <a:prstGeom prst="rect">
            <a:avLst/>
          </a:prstGeom>
          <a:noFill/>
        </p:spPr>
        <p:txBody>
          <a:bodyPr wrap="square">
            <a:spAutoFit/>
          </a:bodyPr>
          <a:lstStyle/>
          <a:p>
            <a:pPr algn="l"/>
            <a:r>
              <a:rPr sz="1000" b="1" i="0">
                <a:solidFill>
                  <a:srgbClr val="F5C518"/>
                </a:solidFill>
                <a:latin typeface="Calibri"/>
              </a:rPr>
              <a:t>Without Needle</a:t>
            </a:r>
          </a:p>
        </p:txBody>
      </p:sp>
      <p:sp>
        <p:nvSpPr>
          <p:cNvPr id="11" name="TextBox 10"/>
          <p:cNvSpPr txBox="1"/>
          <p:nvPr/>
        </p:nvSpPr>
        <p:spPr>
          <a:xfrm>
            <a:off x="7863840" y="2276856"/>
            <a:ext cx="3520440" cy="320040"/>
          </a:xfrm>
          <a:prstGeom prst="rect">
            <a:avLst/>
          </a:prstGeom>
          <a:noFill/>
        </p:spPr>
        <p:txBody>
          <a:bodyPr wrap="square">
            <a:spAutoFit/>
          </a:bodyPr>
          <a:lstStyle/>
          <a:p>
            <a:pPr algn="l"/>
            <a:r>
              <a:rPr sz="1000" b="1" i="0">
                <a:solidFill>
                  <a:srgbClr val="F5C518"/>
                </a:solidFill>
                <a:latin typeface="Calibri"/>
              </a:rPr>
              <a:t>With Needle</a:t>
            </a:r>
          </a:p>
        </p:txBody>
      </p:sp>
      <p:sp>
        <p:nvSpPr>
          <p:cNvPr id="12" name="Rectangle 11"/>
          <p:cNvSpPr/>
          <p:nvPr/>
        </p:nvSpPr>
        <p:spPr>
          <a:xfrm>
            <a:off x="457200" y="2606040"/>
            <a:ext cx="10789920" cy="39319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70048"/>
            <a:ext cx="3977640" cy="320040"/>
          </a:xfrm>
          <a:prstGeom prst="rect">
            <a:avLst/>
          </a:prstGeom>
          <a:noFill/>
        </p:spPr>
        <p:txBody>
          <a:bodyPr wrap="square">
            <a:spAutoFit/>
          </a:bodyPr>
          <a:lstStyle/>
          <a:p>
            <a:pPr algn="l"/>
            <a:r>
              <a:rPr sz="900" b="0" i="0">
                <a:solidFill>
                  <a:srgbClr val="D4E1ED"/>
                </a:solidFill>
                <a:latin typeface="Calibri"/>
              </a:rPr>
              <a:t>Grievance intake after office hours</a:t>
            </a:r>
          </a:p>
        </p:txBody>
      </p:sp>
      <p:sp>
        <p:nvSpPr>
          <p:cNvPr id="14" name="TextBox 13"/>
          <p:cNvSpPr txBox="1"/>
          <p:nvPr/>
        </p:nvSpPr>
        <p:spPr>
          <a:xfrm>
            <a:off x="4754880" y="2670048"/>
            <a:ext cx="2880360" cy="320040"/>
          </a:xfrm>
          <a:prstGeom prst="rect">
            <a:avLst/>
          </a:prstGeom>
          <a:noFill/>
        </p:spPr>
        <p:txBody>
          <a:bodyPr wrap="square">
            <a:spAutoFit/>
          </a:bodyPr>
          <a:lstStyle/>
          <a:p>
            <a:pPr algn="l"/>
            <a:r>
              <a:rPr sz="900" b="0" i="0">
                <a:solidFill>
                  <a:srgbClr val="E03030"/>
                </a:solidFill>
                <a:latin typeface="Calibri"/>
              </a:rPr>
              <a:t>❌  Nothing</a:t>
            </a:r>
          </a:p>
        </p:txBody>
      </p:sp>
      <p:sp>
        <p:nvSpPr>
          <p:cNvPr id="15" name="TextBox 14"/>
          <p:cNvSpPr txBox="1"/>
          <p:nvPr/>
        </p:nvSpPr>
        <p:spPr>
          <a:xfrm>
            <a:off x="7863840" y="2670048"/>
            <a:ext cx="3520440" cy="320040"/>
          </a:xfrm>
          <a:prstGeom prst="rect">
            <a:avLst/>
          </a:prstGeom>
          <a:noFill/>
        </p:spPr>
        <p:txBody>
          <a:bodyPr wrap="square">
            <a:spAutoFit/>
          </a:bodyPr>
          <a:lstStyle/>
          <a:p>
            <a:pPr algn="l"/>
            <a:r>
              <a:rPr sz="900" b="0" i="0">
                <a:solidFill>
                  <a:srgbClr val="138A3C"/>
                </a:solidFill>
                <a:latin typeface="Calibri"/>
              </a:rPr>
              <a:t>✅  24/7 WhatsApp AI</a:t>
            </a:r>
          </a:p>
        </p:txBody>
      </p:sp>
      <p:sp>
        <p:nvSpPr>
          <p:cNvPr id="16" name="Rectangle 15"/>
          <p:cNvSpPr/>
          <p:nvPr/>
        </p:nvSpPr>
        <p:spPr>
          <a:xfrm>
            <a:off x="457200" y="2999232"/>
            <a:ext cx="10789920" cy="393192"/>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63240"/>
            <a:ext cx="3977640" cy="320040"/>
          </a:xfrm>
          <a:prstGeom prst="rect">
            <a:avLst/>
          </a:prstGeom>
          <a:noFill/>
        </p:spPr>
        <p:txBody>
          <a:bodyPr wrap="square">
            <a:spAutoFit/>
          </a:bodyPr>
          <a:lstStyle/>
          <a:p>
            <a:pPr algn="l"/>
            <a:r>
              <a:rPr sz="900" b="0" i="0">
                <a:solidFill>
                  <a:srgbClr val="D4E1ED"/>
                </a:solidFill>
                <a:latin typeface="Calibri"/>
              </a:rPr>
              <a:t>Complaint categorised automatically</a:t>
            </a:r>
          </a:p>
        </p:txBody>
      </p:sp>
      <p:sp>
        <p:nvSpPr>
          <p:cNvPr id="18" name="TextBox 17"/>
          <p:cNvSpPr txBox="1"/>
          <p:nvPr/>
        </p:nvSpPr>
        <p:spPr>
          <a:xfrm>
            <a:off x="4754880" y="3063240"/>
            <a:ext cx="2880360" cy="320040"/>
          </a:xfrm>
          <a:prstGeom prst="rect">
            <a:avLst/>
          </a:prstGeom>
          <a:noFill/>
        </p:spPr>
        <p:txBody>
          <a:bodyPr wrap="square">
            <a:spAutoFit/>
          </a:bodyPr>
          <a:lstStyle/>
          <a:p>
            <a:pPr algn="l"/>
            <a:r>
              <a:rPr sz="900" b="0" i="0">
                <a:solidFill>
                  <a:srgbClr val="E03030"/>
                </a:solidFill>
                <a:latin typeface="Calibri"/>
              </a:rPr>
              <a:t>❌  PA does it</a:t>
            </a:r>
          </a:p>
        </p:txBody>
      </p:sp>
      <p:sp>
        <p:nvSpPr>
          <p:cNvPr id="19" name="TextBox 18"/>
          <p:cNvSpPr txBox="1"/>
          <p:nvPr/>
        </p:nvSpPr>
        <p:spPr>
          <a:xfrm>
            <a:off x="7863840" y="3063240"/>
            <a:ext cx="3520440" cy="320040"/>
          </a:xfrm>
          <a:prstGeom prst="rect">
            <a:avLst/>
          </a:prstGeom>
          <a:noFill/>
        </p:spPr>
        <p:txBody>
          <a:bodyPr wrap="square">
            <a:spAutoFit/>
          </a:bodyPr>
          <a:lstStyle/>
          <a:p>
            <a:pPr algn="l"/>
            <a:r>
              <a:rPr sz="900" b="0" i="0">
                <a:solidFill>
                  <a:srgbClr val="138A3C"/>
                </a:solidFill>
                <a:latin typeface="Calibri"/>
              </a:rPr>
              <a:t>✅  GPT-4 in &lt; 3 seconds</a:t>
            </a:r>
          </a:p>
        </p:txBody>
      </p:sp>
      <p:sp>
        <p:nvSpPr>
          <p:cNvPr id="20" name="Rectangle 19"/>
          <p:cNvSpPr/>
          <p:nvPr/>
        </p:nvSpPr>
        <p:spPr>
          <a:xfrm>
            <a:off x="457200" y="3392424"/>
            <a:ext cx="10789920" cy="39319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456432"/>
            <a:ext cx="3977640" cy="320040"/>
          </a:xfrm>
          <a:prstGeom prst="rect">
            <a:avLst/>
          </a:prstGeom>
          <a:noFill/>
        </p:spPr>
        <p:txBody>
          <a:bodyPr wrap="square">
            <a:spAutoFit/>
          </a:bodyPr>
          <a:lstStyle/>
          <a:p>
            <a:pPr algn="l"/>
            <a:r>
              <a:rPr sz="900" b="0" i="0">
                <a:solidFill>
                  <a:srgbClr val="D4E1ED"/>
                </a:solidFill>
                <a:latin typeface="Calibri"/>
              </a:rPr>
              <a:t>Multi-language constituent support</a:t>
            </a:r>
          </a:p>
        </p:txBody>
      </p:sp>
      <p:sp>
        <p:nvSpPr>
          <p:cNvPr id="22" name="TextBox 21"/>
          <p:cNvSpPr txBox="1"/>
          <p:nvPr/>
        </p:nvSpPr>
        <p:spPr>
          <a:xfrm>
            <a:off x="4754880" y="3456432"/>
            <a:ext cx="2880360" cy="320040"/>
          </a:xfrm>
          <a:prstGeom prst="rect">
            <a:avLst/>
          </a:prstGeom>
          <a:noFill/>
        </p:spPr>
        <p:txBody>
          <a:bodyPr wrap="square">
            <a:spAutoFit/>
          </a:bodyPr>
          <a:lstStyle/>
          <a:p>
            <a:pPr algn="l"/>
            <a:r>
              <a:rPr sz="900" b="0" i="0">
                <a:solidFill>
                  <a:srgbClr val="E03030"/>
                </a:solidFill>
                <a:latin typeface="Calibri"/>
              </a:rPr>
              <a:t>❌  Hindi only</a:t>
            </a:r>
          </a:p>
        </p:txBody>
      </p:sp>
      <p:sp>
        <p:nvSpPr>
          <p:cNvPr id="23" name="TextBox 22"/>
          <p:cNvSpPr txBox="1"/>
          <p:nvPr/>
        </p:nvSpPr>
        <p:spPr>
          <a:xfrm>
            <a:off x="7863840" y="3456432"/>
            <a:ext cx="3520440" cy="320040"/>
          </a:xfrm>
          <a:prstGeom prst="rect">
            <a:avLst/>
          </a:prstGeom>
          <a:noFill/>
        </p:spPr>
        <p:txBody>
          <a:bodyPr wrap="square">
            <a:spAutoFit/>
          </a:bodyPr>
          <a:lstStyle/>
          <a:p>
            <a:pPr algn="l"/>
            <a:r>
              <a:rPr sz="900" b="0" i="0">
                <a:solidFill>
                  <a:srgbClr val="138A3C"/>
                </a:solidFill>
                <a:latin typeface="Calibri"/>
              </a:rPr>
              <a:t>✅  5 languages + dialects</a:t>
            </a:r>
          </a:p>
        </p:txBody>
      </p:sp>
      <p:sp>
        <p:nvSpPr>
          <p:cNvPr id="24" name="Rectangle 23"/>
          <p:cNvSpPr/>
          <p:nvPr/>
        </p:nvSpPr>
        <p:spPr>
          <a:xfrm>
            <a:off x="457200" y="3785616"/>
            <a:ext cx="10789920" cy="393192"/>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849624"/>
            <a:ext cx="3977640" cy="320040"/>
          </a:xfrm>
          <a:prstGeom prst="rect">
            <a:avLst/>
          </a:prstGeom>
          <a:noFill/>
        </p:spPr>
        <p:txBody>
          <a:bodyPr wrap="square">
            <a:spAutoFit/>
          </a:bodyPr>
          <a:lstStyle/>
          <a:p>
            <a:pPr algn="l"/>
            <a:r>
              <a:rPr sz="900" b="0" i="0">
                <a:solidFill>
                  <a:srgbClr val="D4E1ED"/>
                </a:solidFill>
                <a:latin typeface="Calibri"/>
              </a:rPr>
              <a:t>Parliament question drafted in 1 min</a:t>
            </a:r>
          </a:p>
        </p:txBody>
      </p:sp>
      <p:sp>
        <p:nvSpPr>
          <p:cNvPr id="26" name="TextBox 25"/>
          <p:cNvSpPr txBox="1"/>
          <p:nvPr/>
        </p:nvSpPr>
        <p:spPr>
          <a:xfrm>
            <a:off x="4754880" y="3849624"/>
            <a:ext cx="2880360" cy="320040"/>
          </a:xfrm>
          <a:prstGeom prst="rect">
            <a:avLst/>
          </a:prstGeom>
          <a:noFill/>
        </p:spPr>
        <p:txBody>
          <a:bodyPr wrap="square">
            <a:spAutoFit/>
          </a:bodyPr>
          <a:lstStyle/>
          <a:p>
            <a:pPr algn="l"/>
            <a:r>
              <a:rPr sz="900" b="0" i="0">
                <a:solidFill>
                  <a:srgbClr val="E03030"/>
                </a:solidFill>
                <a:latin typeface="Calibri"/>
              </a:rPr>
              <a:t>❌  2–4 hours</a:t>
            </a:r>
          </a:p>
        </p:txBody>
      </p:sp>
      <p:sp>
        <p:nvSpPr>
          <p:cNvPr id="27" name="TextBox 26"/>
          <p:cNvSpPr txBox="1"/>
          <p:nvPr/>
        </p:nvSpPr>
        <p:spPr>
          <a:xfrm>
            <a:off x="7863840" y="3849624"/>
            <a:ext cx="3520440" cy="320040"/>
          </a:xfrm>
          <a:prstGeom prst="rect">
            <a:avLst/>
          </a:prstGeom>
          <a:noFill/>
        </p:spPr>
        <p:txBody>
          <a:bodyPr wrap="square">
            <a:spAutoFit/>
          </a:bodyPr>
          <a:lstStyle/>
          <a:p>
            <a:pPr algn="l"/>
            <a:r>
              <a:rPr sz="900" b="0" i="0">
                <a:solidFill>
                  <a:srgbClr val="138A3C"/>
                </a:solidFill>
                <a:latin typeface="Calibri"/>
              </a:rPr>
              <a:t>✅  60 seconds</a:t>
            </a:r>
          </a:p>
        </p:txBody>
      </p:sp>
      <p:sp>
        <p:nvSpPr>
          <p:cNvPr id="28" name="Rectangle 27"/>
          <p:cNvSpPr/>
          <p:nvPr/>
        </p:nvSpPr>
        <p:spPr>
          <a:xfrm>
            <a:off x="457200" y="4178808"/>
            <a:ext cx="10789920" cy="39319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242816"/>
            <a:ext cx="3977640" cy="320040"/>
          </a:xfrm>
          <a:prstGeom prst="rect">
            <a:avLst/>
          </a:prstGeom>
          <a:noFill/>
        </p:spPr>
        <p:txBody>
          <a:bodyPr wrap="square">
            <a:spAutoFit/>
          </a:bodyPr>
          <a:lstStyle/>
          <a:p>
            <a:pPr algn="l"/>
            <a:r>
              <a:rPr sz="900" b="0" i="0">
                <a:solidFill>
                  <a:srgbClr val="D4E1ED"/>
                </a:solidFill>
                <a:latin typeface="Calibri"/>
              </a:rPr>
              <a:t>CSR fund matching for constituency</a:t>
            </a:r>
          </a:p>
        </p:txBody>
      </p:sp>
      <p:sp>
        <p:nvSpPr>
          <p:cNvPr id="30" name="TextBox 29"/>
          <p:cNvSpPr txBox="1"/>
          <p:nvPr/>
        </p:nvSpPr>
        <p:spPr>
          <a:xfrm>
            <a:off x="4754880" y="4242816"/>
            <a:ext cx="2880360" cy="320040"/>
          </a:xfrm>
          <a:prstGeom prst="rect">
            <a:avLst/>
          </a:prstGeom>
          <a:noFill/>
        </p:spPr>
        <p:txBody>
          <a:bodyPr wrap="square">
            <a:spAutoFit/>
          </a:bodyPr>
          <a:lstStyle/>
          <a:p>
            <a:pPr algn="l"/>
            <a:r>
              <a:rPr sz="900" b="0" i="0">
                <a:solidFill>
                  <a:srgbClr val="E03030"/>
                </a:solidFill>
                <a:latin typeface="Calibri"/>
              </a:rPr>
              <a:t>❌  Personal contacts</a:t>
            </a:r>
          </a:p>
        </p:txBody>
      </p:sp>
      <p:sp>
        <p:nvSpPr>
          <p:cNvPr id="31" name="TextBox 30"/>
          <p:cNvSpPr txBox="1"/>
          <p:nvPr/>
        </p:nvSpPr>
        <p:spPr>
          <a:xfrm>
            <a:off x="7863840" y="4242816"/>
            <a:ext cx="3520440" cy="320040"/>
          </a:xfrm>
          <a:prstGeom prst="rect">
            <a:avLst/>
          </a:prstGeom>
          <a:noFill/>
        </p:spPr>
        <p:txBody>
          <a:bodyPr wrap="square">
            <a:spAutoFit/>
          </a:bodyPr>
          <a:lstStyle/>
          <a:p>
            <a:pPr algn="l"/>
            <a:r>
              <a:rPr sz="900" b="0" i="0">
                <a:solidFill>
                  <a:srgbClr val="138A3C"/>
                </a:solidFill>
                <a:latin typeface="Calibri"/>
              </a:rPr>
              <a:t>✅  Automated matching</a:t>
            </a:r>
          </a:p>
        </p:txBody>
      </p:sp>
      <p:sp>
        <p:nvSpPr>
          <p:cNvPr id="32" name="Rectangle 31"/>
          <p:cNvSpPr/>
          <p:nvPr/>
        </p:nvSpPr>
        <p:spPr>
          <a:xfrm>
            <a:off x="457200" y="4572000"/>
            <a:ext cx="10789920" cy="393192"/>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636008"/>
            <a:ext cx="3977640" cy="320040"/>
          </a:xfrm>
          <a:prstGeom prst="rect">
            <a:avLst/>
          </a:prstGeom>
          <a:noFill/>
        </p:spPr>
        <p:txBody>
          <a:bodyPr wrap="square">
            <a:spAutoFit/>
          </a:bodyPr>
          <a:lstStyle/>
          <a:p>
            <a:pPr algn="l"/>
            <a:r>
              <a:rPr sz="900" b="0" i="0">
                <a:solidFill>
                  <a:srgbClr val="D4E1ED"/>
                </a:solidFill>
                <a:latin typeface="Calibri"/>
              </a:rPr>
              <a:t>Constituency news filtered to your area</a:t>
            </a:r>
          </a:p>
        </p:txBody>
      </p:sp>
      <p:sp>
        <p:nvSpPr>
          <p:cNvPr id="34" name="TextBox 33"/>
          <p:cNvSpPr txBox="1"/>
          <p:nvPr/>
        </p:nvSpPr>
        <p:spPr>
          <a:xfrm>
            <a:off x="4754880" y="4636008"/>
            <a:ext cx="2880360" cy="320040"/>
          </a:xfrm>
          <a:prstGeom prst="rect">
            <a:avLst/>
          </a:prstGeom>
          <a:noFill/>
        </p:spPr>
        <p:txBody>
          <a:bodyPr wrap="square">
            <a:spAutoFit/>
          </a:bodyPr>
          <a:lstStyle/>
          <a:p>
            <a:pPr algn="l"/>
            <a:r>
              <a:rPr sz="900" b="0" i="0">
                <a:solidFill>
                  <a:srgbClr val="E03030"/>
                </a:solidFill>
                <a:latin typeface="Calibri"/>
              </a:rPr>
              <a:t>❌  Generic news</a:t>
            </a:r>
          </a:p>
        </p:txBody>
      </p:sp>
      <p:sp>
        <p:nvSpPr>
          <p:cNvPr id="35" name="TextBox 34"/>
          <p:cNvSpPr txBox="1"/>
          <p:nvPr/>
        </p:nvSpPr>
        <p:spPr>
          <a:xfrm>
            <a:off x="7863840" y="4636008"/>
            <a:ext cx="3520440" cy="320040"/>
          </a:xfrm>
          <a:prstGeom prst="rect">
            <a:avLst/>
          </a:prstGeom>
          <a:noFill/>
        </p:spPr>
        <p:txBody>
          <a:bodyPr wrap="square">
            <a:spAutoFit/>
          </a:bodyPr>
          <a:lstStyle/>
          <a:p>
            <a:pPr algn="l"/>
            <a:r>
              <a:rPr sz="900" b="0" i="0">
                <a:solidFill>
                  <a:srgbClr val="138A3C"/>
                </a:solidFill>
                <a:latin typeface="Calibri"/>
              </a:rPr>
              <a:t>✅  Constituency-aware feed</a:t>
            </a:r>
          </a:p>
        </p:txBody>
      </p:sp>
      <p:sp>
        <p:nvSpPr>
          <p:cNvPr id="36" name="Rectangle 35"/>
          <p:cNvSpPr/>
          <p:nvPr/>
        </p:nvSpPr>
        <p:spPr>
          <a:xfrm>
            <a:off x="457200" y="4965192"/>
            <a:ext cx="10789920" cy="39319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029200"/>
            <a:ext cx="3977640" cy="320040"/>
          </a:xfrm>
          <a:prstGeom prst="rect">
            <a:avLst/>
          </a:prstGeom>
          <a:noFill/>
        </p:spPr>
        <p:txBody>
          <a:bodyPr wrap="square">
            <a:spAutoFit/>
          </a:bodyPr>
          <a:lstStyle/>
          <a:p>
            <a:pPr algn="l"/>
            <a:r>
              <a:rPr sz="900" b="0" i="0">
                <a:solidFill>
                  <a:srgbClr val="D4E1ED"/>
                </a:solidFill>
                <a:latin typeface="Calibri"/>
              </a:rPr>
              <a:t>Case history per constituent</a:t>
            </a:r>
          </a:p>
        </p:txBody>
      </p:sp>
      <p:sp>
        <p:nvSpPr>
          <p:cNvPr id="38" name="TextBox 37"/>
          <p:cNvSpPr txBox="1"/>
          <p:nvPr/>
        </p:nvSpPr>
        <p:spPr>
          <a:xfrm>
            <a:off x="4754880" y="5029200"/>
            <a:ext cx="2880360" cy="320040"/>
          </a:xfrm>
          <a:prstGeom prst="rect">
            <a:avLst/>
          </a:prstGeom>
          <a:noFill/>
        </p:spPr>
        <p:txBody>
          <a:bodyPr wrap="square">
            <a:spAutoFit/>
          </a:bodyPr>
          <a:lstStyle/>
          <a:p>
            <a:pPr algn="l"/>
            <a:r>
              <a:rPr sz="900" b="0" i="0">
                <a:solidFill>
                  <a:srgbClr val="E03030"/>
                </a:solidFill>
                <a:latin typeface="Calibri"/>
              </a:rPr>
              <a:t>❌  Scattered notes</a:t>
            </a:r>
          </a:p>
        </p:txBody>
      </p:sp>
      <p:sp>
        <p:nvSpPr>
          <p:cNvPr id="39" name="TextBox 38"/>
          <p:cNvSpPr txBox="1"/>
          <p:nvPr/>
        </p:nvSpPr>
        <p:spPr>
          <a:xfrm>
            <a:off x="7863840" y="5029200"/>
            <a:ext cx="3520440" cy="320040"/>
          </a:xfrm>
          <a:prstGeom prst="rect">
            <a:avLst/>
          </a:prstGeom>
          <a:noFill/>
        </p:spPr>
        <p:txBody>
          <a:bodyPr wrap="square">
            <a:spAutoFit/>
          </a:bodyPr>
          <a:lstStyle/>
          <a:p>
            <a:pPr algn="l"/>
            <a:r>
              <a:rPr sz="900" b="0" i="0">
                <a:solidFill>
                  <a:srgbClr val="138A3C"/>
                </a:solidFill>
                <a:latin typeface="Calibri"/>
              </a:rPr>
              <a:t>✅  Full case database</a:t>
            </a:r>
          </a:p>
        </p:txBody>
      </p:sp>
      <p:sp>
        <p:nvSpPr>
          <p:cNvPr id="40" name="Rectangle 39"/>
          <p:cNvSpPr/>
          <p:nvPr/>
        </p:nvSpPr>
        <p:spPr>
          <a:xfrm>
            <a:off x="457200" y="5358384"/>
            <a:ext cx="10789920" cy="393192"/>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422392"/>
            <a:ext cx="3977640" cy="320040"/>
          </a:xfrm>
          <a:prstGeom prst="rect">
            <a:avLst/>
          </a:prstGeom>
          <a:noFill/>
        </p:spPr>
        <p:txBody>
          <a:bodyPr wrap="square">
            <a:spAutoFit/>
          </a:bodyPr>
          <a:lstStyle/>
          <a:p>
            <a:pPr algn="l"/>
            <a:r>
              <a:rPr sz="900" b="0" i="0">
                <a:solidFill>
                  <a:srgbClr val="D4E1ED"/>
                </a:solidFill>
                <a:latin typeface="Calibri"/>
              </a:rPr>
              <a:t>Document analysis (PDF Q&amp;A)</a:t>
            </a:r>
          </a:p>
        </p:txBody>
      </p:sp>
      <p:sp>
        <p:nvSpPr>
          <p:cNvPr id="42" name="TextBox 41"/>
          <p:cNvSpPr txBox="1"/>
          <p:nvPr/>
        </p:nvSpPr>
        <p:spPr>
          <a:xfrm>
            <a:off x="4754880" y="5422392"/>
            <a:ext cx="2880360" cy="320040"/>
          </a:xfrm>
          <a:prstGeom prst="rect">
            <a:avLst/>
          </a:prstGeom>
          <a:noFill/>
        </p:spPr>
        <p:txBody>
          <a:bodyPr wrap="square">
            <a:spAutoFit/>
          </a:bodyPr>
          <a:lstStyle/>
          <a:p>
            <a:pPr algn="l"/>
            <a:r>
              <a:rPr sz="900" b="0" i="0">
                <a:solidFill>
                  <a:srgbClr val="E03030"/>
                </a:solidFill>
                <a:latin typeface="Calibri"/>
              </a:rPr>
              <a:t>❌  Read it yourself</a:t>
            </a:r>
          </a:p>
        </p:txBody>
      </p:sp>
      <p:sp>
        <p:nvSpPr>
          <p:cNvPr id="43" name="TextBox 42"/>
          <p:cNvSpPr txBox="1"/>
          <p:nvPr/>
        </p:nvSpPr>
        <p:spPr>
          <a:xfrm>
            <a:off x="7863840" y="5422392"/>
            <a:ext cx="3520440" cy="320040"/>
          </a:xfrm>
          <a:prstGeom prst="rect">
            <a:avLst/>
          </a:prstGeom>
          <a:noFill/>
        </p:spPr>
        <p:txBody>
          <a:bodyPr wrap="square">
            <a:spAutoFit/>
          </a:bodyPr>
          <a:lstStyle/>
          <a:p>
            <a:pPr algn="l"/>
            <a:r>
              <a:rPr sz="900" b="0" i="0">
                <a:solidFill>
                  <a:srgbClr val="138A3C"/>
                </a:solidFill>
                <a:latin typeface="Calibri"/>
              </a:rPr>
              <a:t>✅  AI Copilot</a:t>
            </a:r>
          </a:p>
        </p:txBody>
      </p:sp>
      <p:sp>
        <p:nvSpPr>
          <p:cNvPr id="44" name="Rectangle 43"/>
          <p:cNvSpPr/>
          <p:nvPr/>
        </p:nvSpPr>
        <p:spPr>
          <a:xfrm>
            <a:off x="457200" y="5751576"/>
            <a:ext cx="10789920" cy="39319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5815584"/>
            <a:ext cx="3977640" cy="320040"/>
          </a:xfrm>
          <a:prstGeom prst="rect">
            <a:avLst/>
          </a:prstGeom>
          <a:noFill/>
        </p:spPr>
        <p:txBody>
          <a:bodyPr wrap="square">
            <a:spAutoFit/>
          </a:bodyPr>
          <a:lstStyle/>
          <a:p>
            <a:pPr algn="l"/>
            <a:r>
              <a:rPr sz="900" b="0" i="0">
                <a:solidFill>
                  <a:srgbClr val="D4E1ED"/>
                </a:solidFill>
                <a:latin typeface="Calibri"/>
              </a:rPr>
              <a:t>Re-election advantage</a:t>
            </a:r>
          </a:p>
        </p:txBody>
      </p:sp>
      <p:sp>
        <p:nvSpPr>
          <p:cNvPr id="46" name="TextBox 45"/>
          <p:cNvSpPr txBox="1"/>
          <p:nvPr/>
        </p:nvSpPr>
        <p:spPr>
          <a:xfrm>
            <a:off x="4754880" y="5815584"/>
            <a:ext cx="2880360" cy="320040"/>
          </a:xfrm>
          <a:prstGeom prst="rect">
            <a:avLst/>
          </a:prstGeom>
          <a:noFill/>
        </p:spPr>
        <p:txBody>
          <a:bodyPr wrap="square">
            <a:spAutoFit/>
          </a:bodyPr>
          <a:lstStyle/>
          <a:p>
            <a:pPr algn="l"/>
            <a:r>
              <a:rPr sz="900" b="0" i="0">
                <a:solidFill>
                  <a:srgbClr val="E03030"/>
                </a:solidFill>
                <a:latin typeface="Calibri"/>
              </a:rPr>
              <a:t>❌  Hope</a:t>
            </a:r>
          </a:p>
        </p:txBody>
      </p:sp>
      <p:sp>
        <p:nvSpPr>
          <p:cNvPr id="47" name="TextBox 46"/>
          <p:cNvSpPr txBox="1"/>
          <p:nvPr/>
        </p:nvSpPr>
        <p:spPr>
          <a:xfrm>
            <a:off x="7863840" y="5815584"/>
            <a:ext cx="3520440" cy="320040"/>
          </a:xfrm>
          <a:prstGeom prst="rect">
            <a:avLst/>
          </a:prstGeom>
          <a:noFill/>
        </p:spPr>
        <p:txBody>
          <a:bodyPr wrap="square">
            <a:spAutoFit/>
          </a:bodyPr>
          <a:lstStyle/>
          <a:p>
            <a:pPr algn="l"/>
            <a:r>
              <a:rPr sz="900" b="0" i="0">
                <a:solidFill>
                  <a:srgbClr val="138A3C"/>
                </a:solidFill>
                <a:latin typeface="Calibri"/>
              </a:rPr>
              <a:t>✅  Data + Responsiveness</a:t>
            </a:r>
          </a:p>
        </p:txBody>
      </p:sp>
      <p:sp>
        <p:nvSpPr>
          <p:cNvPr id="48" name="TextBox 47"/>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377440" cy="32918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377440" cy="283464"/>
          </a:xfrm>
          <a:prstGeom prst="rect">
            <a:avLst/>
          </a:prstGeom>
          <a:noFill/>
        </p:spPr>
        <p:txBody>
          <a:bodyPr wrap="square">
            <a:spAutoFit/>
          </a:bodyPr>
          <a:lstStyle/>
          <a:p>
            <a:pPr algn="ctr"/>
            <a:r>
              <a:rPr sz="900" b="1" i="0">
                <a:solidFill>
                  <a:srgbClr val="07101E"/>
                </a:solidFill>
                <a:latin typeface="Calibri"/>
              </a:rPr>
              <a:t>YOUR POLITICAL ROI</a:t>
            </a:r>
          </a:p>
        </p:txBody>
      </p:sp>
      <p:sp>
        <p:nvSpPr>
          <p:cNvPr id="6" name="TextBox 5"/>
          <p:cNvSpPr txBox="1"/>
          <p:nvPr/>
        </p:nvSpPr>
        <p:spPr>
          <a:xfrm>
            <a:off x="548640" y="685800"/>
            <a:ext cx="8229600" cy="1280160"/>
          </a:xfrm>
          <a:prstGeom prst="rect">
            <a:avLst/>
          </a:prstGeom>
          <a:noFill/>
        </p:spPr>
        <p:txBody>
          <a:bodyPr wrap="square">
            <a:spAutoFit/>
          </a:bodyPr>
          <a:lstStyle/>
          <a:p>
            <a:pPr algn="l"/>
            <a:r>
              <a:rPr sz="3600" b="1" i="0">
                <a:solidFill>
                  <a:srgbClr val="FFFFFF"/>
                </a:solidFill>
                <a:latin typeface="Calibri"/>
              </a:rPr>
              <a:t>This is not a cost.
It's the cheapest vote you'll ever protect.</a:t>
            </a:r>
          </a:p>
        </p:txBody>
      </p:sp>
      <p:sp>
        <p:nvSpPr>
          <p:cNvPr id="7" name="Rectangle 6"/>
          <p:cNvSpPr/>
          <p:nvPr/>
        </p:nvSpPr>
        <p:spPr>
          <a:xfrm>
            <a:off x="548640" y="20116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40280"/>
            <a:ext cx="5212080" cy="39319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40280"/>
            <a:ext cx="521208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331720"/>
            <a:ext cx="4937760" cy="365760"/>
          </a:xfrm>
          <a:prstGeom prst="rect">
            <a:avLst/>
          </a:prstGeom>
          <a:noFill/>
        </p:spPr>
        <p:txBody>
          <a:bodyPr wrap="square">
            <a:spAutoFit/>
          </a:bodyPr>
          <a:lstStyle/>
          <a:p>
            <a:pPr algn="l"/>
            <a:r>
              <a:rPr sz="1300" b="1" i="0">
                <a:solidFill>
                  <a:srgbClr val="F5C518"/>
                </a:solidFill>
                <a:latin typeface="Calibri"/>
              </a:rPr>
              <a:t>The Vote Maths</a:t>
            </a:r>
          </a:p>
        </p:txBody>
      </p:sp>
      <p:sp>
        <p:nvSpPr>
          <p:cNvPr id="11" name="TextBox 10"/>
          <p:cNvSpPr txBox="1"/>
          <p:nvPr/>
        </p:nvSpPr>
        <p:spPr>
          <a:xfrm>
            <a:off x="594360" y="2788920"/>
            <a:ext cx="4846320" cy="384048"/>
          </a:xfrm>
          <a:prstGeom prst="rect">
            <a:avLst/>
          </a:prstGeom>
          <a:noFill/>
        </p:spPr>
        <p:txBody>
          <a:bodyPr wrap="square">
            <a:spAutoFit/>
          </a:bodyPr>
          <a:lstStyle/>
          <a:p>
            <a:pPr algn="l"/>
            <a:r>
              <a:rPr sz="1100" b="0" i="0">
                <a:solidFill>
                  <a:srgbClr val="D4E1ED"/>
                </a:solidFill>
                <a:latin typeface="Calibri"/>
              </a:rPr>
              <a:t>1 resolved complaint  =  1 grateful family</a:t>
            </a:r>
          </a:p>
        </p:txBody>
      </p:sp>
      <p:sp>
        <p:nvSpPr>
          <p:cNvPr id="12" name="TextBox 11"/>
          <p:cNvSpPr txBox="1"/>
          <p:nvPr/>
        </p:nvSpPr>
        <p:spPr>
          <a:xfrm>
            <a:off x="594360" y="3118104"/>
            <a:ext cx="4846320" cy="384048"/>
          </a:xfrm>
          <a:prstGeom prst="rect">
            <a:avLst/>
          </a:prstGeom>
          <a:noFill/>
        </p:spPr>
        <p:txBody>
          <a:bodyPr wrap="square">
            <a:spAutoFit/>
          </a:bodyPr>
          <a:lstStyle/>
          <a:p>
            <a:pPr algn="l"/>
            <a:r>
              <a:rPr sz="1100" b="0" i="0">
                <a:solidFill>
                  <a:srgbClr val="D4E1ED"/>
                </a:solidFill>
                <a:latin typeface="Calibri"/>
              </a:rPr>
              <a:t>1 family  =  avg. 4.2 registered voters</a:t>
            </a:r>
          </a:p>
        </p:txBody>
      </p:sp>
      <p:sp>
        <p:nvSpPr>
          <p:cNvPr id="13" name="TextBox 12"/>
          <p:cNvSpPr txBox="1"/>
          <p:nvPr/>
        </p:nvSpPr>
        <p:spPr>
          <a:xfrm>
            <a:off x="594360" y="3447288"/>
            <a:ext cx="4846320" cy="384048"/>
          </a:xfrm>
          <a:prstGeom prst="rect">
            <a:avLst/>
          </a:prstGeom>
          <a:noFill/>
        </p:spPr>
        <p:txBody>
          <a:bodyPr wrap="square">
            <a:spAutoFit/>
          </a:bodyPr>
          <a:lstStyle/>
          <a:p>
            <a:pPr algn="l"/>
            <a:r>
              <a:rPr sz="1100" b="0" i="0">
                <a:solidFill>
                  <a:srgbClr val="D4E1ED"/>
                </a:solidFill>
                <a:latin typeface="Calibri"/>
              </a:rPr>
              <a:t>1 family shares story with 3 neighbours</a:t>
            </a:r>
          </a:p>
        </p:txBody>
      </p:sp>
      <p:sp>
        <p:nvSpPr>
          <p:cNvPr id="14" name="TextBox 13"/>
          <p:cNvSpPr txBox="1"/>
          <p:nvPr/>
        </p:nvSpPr>
        <p:spPr>
          <a:xfrm>
            <a:off x="594360" y="3959352"/>
            <a:ext cx="4846320" cy="384048"/>
          </a:xfrm>
          <a:prstGeom prst="rect">
            <a:avLst/>
          </a:prstGeom>
          <a:noFill/>
        </p:spPr>
        <p:txBody>
          <a:bodyPr wrap="square">
            <a:spAutoFit/>
          </a:bodyPr>
          <a:lstStyle/>
          <a:p>
            <a:pPr algn="l"/>
            <a:r>
              <a:rPr sz="1300" b="1" i="0">
                <a:solidFill>
                  <a:srgbClr val="FFFFFF"/>
                </a:solidFill>
                <a:latin typeface="Calibri"/>
              </a:rPr>
              <a:t>50 resolved cases/month</a:t>
            </a:r>
          </a:p>
        </p:txBody>
      </p:sp>
      <p:sp>
        <p:nvSpPr>
          <p:cNvPr id="15" name="TextBox 14"/>
          <p:cNvSpPr txBox="1"/>
          <p:nvPr/>
        </p:nvSpPr>
        <p:spPr>
          <a:xfrm>
            <a:off x="594360" y="4288536"/>
            <a:ext cx="4846320" cy="384048"/>
          </a:xfrm>
          <a:prstGeom prst="rect">
            <a:avLst/>
          </a:prstGeom>
          <a:noFill/>
        </p:spPr>
        <p:txBody>
          <a:bodyPr wrap="square">
            <a:spAutoFit/>
          </a:bodyPr>
          <a:lstStyle/>
          <a:p>
            <a:pPr algn="l"/>
            <a:r>
              <a:rPr sz="1300" b="1" i="0">
                <a:solidFill>
                  <a:srgbClr val="F5C518"/>
                </a:solidFill>
                <a:latin typeface="Calibri"/>
              </a:rPr>
              <a:t>→  50 families  →  210 direct votes protected</a:t>
            </a:r>
          </a:p>
        </p:txBody>
      </p:sp>
      <p:sp>
        <p:nvSpPr>
          <p:cNvPr id="16" name="TextBox 15"/>
          <p:cNvSpPr txBox="1"/>
          <p:nvPr/>
        </p:nvSpPr>
        <p:spPr>
          <a:xfrm>
            <a:off x="594360" y="4617720"/>
            <a:ext cx="4846320" cy="384048"/>
          </a:xfrm>
          <a:prstGeom prst="rect">
            <a:avLst/>
          </a:prstGeom>
          <a:noFill/>
        </p:spPr>
        <p:txBody>
          <a:bodyPr wrap="square">
            <a:spAutoFit/>
          </a:bodyPr>
          <a:lstStyle/>
          <a:p>
            <a:pPr algn="l"/>
            <a:r>
              <a:rPr sz="1100" b="0" i="0">
                <a:solidFill>
                  <a:srgbClr val="F5C518"/>
                </a:solidFill>
                <a:latin typeface="Calibri"/>
              </a:rPr>
              <a:t>→  150 neighbour households influenced</a:t>
            </a:r>
          </a:p>
        </p:txBody>
      </p:sp>
      <p:sp>
        <p:nvSpPr>
          <p:cNvPr id="17" name="TextBox 16"/>
          <p:cNvSpPr txBox="1"/>
          <p:nvPr/>
        </p:nvSpPr>
        <p:spPr>
          <a:xfrm>
            <a:off x="594360" y="4946904"/>
            <a:ext cx="4846320" cy="384048"/>
          </a:xfrm>
          <a:prstGeom prst="rect">
            <a:avLst/>
          </a:prstGeom>
          <a:noFill/>
        </p:spPr>
        <p:txBody>
          <a:bodyPr wrap="square">
            <a:spAutoFit/>
          </a:bodyPr>
          <a:lstStyle/>
          <a:p>
            <a:pPr algn="l"/>
            <a:r>
              <a:rPr sz="1100" b="0" i="0">
                <a:solidFill>
                  <a:srgbClr val="F5C518"/>
                </a:solidFill>
                <a:latin typeface="Calibri"/>
              </a:rPr>
              <a:t>→  ~630 additional votes in your orbit</a:t>
            </a:r>
          </a:p>
        </p:txBody>
      </p:sp>
      <p:sp>
        <p:nvSpPr>
          <p:cNvPr id="18" name="TextBox 17"/>
          <p:cNvSpPr txBox="1"/>
          <p:nvPr/>
        </p:nvSpPr>
        <p:spPr>
          <a:xfrm>
            <a:off x="594360" y="5458968"/>
            <a:ext cx="4846320" cy="384048"/>
          </a:xfrm>
          <a:prstGeom prst="rect">
            <a:avLst/>
          </a:prstGeom>
          <a:noFill/>
        </p:spPr>
        <p:txBody>
          <a:bodyPr wrap="square">
            <a:spAutoFit/>
          </a:bodyPr>
          <a:lstStyle/>
          <a:p>
            <a:pPr algn="l"/>
            <a:r>
              <a:rPr sz="1100" b="0" i="0">
                <a:solidFill>
                  <a:srgbClr val="D4E1ED"/>
                </a:solidFill>
                <a:latin typeface="Calibri"/>
              </a:rPr>
              <a:t>Needle costs ₹10,000/month.</a:t>
            </a:r>
          </a:p>
        </p:txBody>
      </p:sp>
      <p:sp>
        <p:nvSpPr>
          <p:cNvPr id="19" name="TextBox 18"/>
          <p:cNvSpPr txBox="1"/>
          <p:nvPr/>
        </p:nvSpPr>
        <p:spPr>
          <a:xfrm>
            <a:off x="594360" y="5788152"/>
            <a:ext cx="4846320" cy="384048"/>
          </a:xfrm>
          <a:prstGeom prst="rect">
            <a:avLst/>
          </a:prstGeom>
          <a:noFill/>
        </p:spPr>
        <p:txBody>
          <a:bodyPr wrap="square">
            <a:spAutoFit/>
          </a:bodyPr>
          <a:lstStyle/>
          <a:p>
            <a:pPr algn="l"/>
            <a:r>
              <a:rPr sz="1300" b="1" i="0">
                <a:solidFill>
                  <a:srgbClr val="FFFFFF"/>
                </a:solidFill>
                <a:latin typeface="Calibri"/>
              </a:rPr>
              <a:t>That's ₹12 per protected vote.</a:t>
            </a:r>
          </a:p>
        </p:txBody>
      </p:sp>
      <p:sp>
        <p:nvSpPr>
          <p:cNvPr id="20" name="TextBox 19"/>
          <p:cNvSpPr txBox="1"/>
          <p:nvPr/>
        </p:nvSpPr>
        <p:spPr>
          <a:xfrm>
            <a:off x="594360" y="6117336"/>
            <a:ext cx="4846320" cy="384048"/>
          </a:xfrm>
          <a:prstGeom prst="rect">
            <a:avLst/>
          </a:prstGeom>
          <a:noFill/>
        </p:spPr>
        <p:txBody>
          <a:bodyPr wrap="square">
            <a:spAutoFit/>
          </a:bodyPr>
          <a:lstStyle/>
          <a:p>
            <a:pPr algn="l"/>
            <a:r>
              <a:rPr sz="1000" b="0" i="0">
                <a:solidFill>
                  <a:srgbClr val="7A98B2"/>
                </a:solidFill>
                <a:latin typeface="Calibri"/>
              </a:rPr>
              <a:t>Your last election campaign spent ₹120–400+
per voter reached.</a:t>
            </a:r>
          </a:p>
        </p:txBody>
      </p:sp>
      <p:sp>
        <p:nvSpPr>
          <p:cNvPr id="21" name="Rectangle 20"/>
          <p:cNvSpPr/>
          <p:nvPr/>
        </p:nvSpPr>
        <p:spPr>
          <a:xfrm>
            <a:off x="6126480" y="2240280"/>
            <a:ext cx="5577840" cy="82296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2240280"/>
            <a:ext cx="54864" cy="82296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2331720"/>
            <a:ext cx="2011680" cy="457200"/>
          </a:xfrm>
          <a:prstGeom prst="rect">
            <a:avLst/>
          </a:prstGeom>
          <a:noFill/>
        </p:spPr>
        <p:txBody>
          <a:bodyPr wrap="square">
            <a:spAutoFit/>
          </a:bodyPr>
          <a:lstStyle/>
          <a:p>
            <a:pPr algn="l"/>
            <a:r>
              <a:rPr sz="2200" b="1" i="0">
                <a:solidFill>
                  <a:srgbClr val="F5C518"/>
                </a:solidFill>
                <a:latin typeface="Calibri"/>
              </a:rPr>
              <a:t>₹12</a:t>
            </a:r>
          </a:p>
        </p:txBody>
      </p:sp>
      <p:sp>
        <p:nvSpPr>
          <p:cNvPr id="24" name="TextBox 23"/>
          <p:cNvSpPr txBox="1"/>
          <p:nvPr/>
        </p:nvSpPr>
        <p:spPr>
          <a:xfrm>
            <a:off x="8412480" y="2404872"/>
            <a:ext cx="3108960" cy="502920"/>
          </a:xfrm>
          <a:prstGeom prst="rect">
            <a:avLst/>
          </a:prstGeom>
          <a:noFill/>
        </p:spPr>
        <p:txBody>
          <a:bodyPr wrap="square">
            <a:spAutoFit/>
          </a:bodyPr>
          <a:lstStyle/>
          <a:p>
            <a:pPr algn="l"/>
            <a:r>
              <a:rPr sz="1000" b="0" i="0">
                <a:solidFill>
                  <a:srgbClr val="D4E1ED"/>
                </a:solidFill>
                <a:latin typeface="Calibri"/>
              </a:rPr>
              <a:t>per protected vote with Needle</a:t>
            </a:r>
          </a:p>
        </p:txBody>
      </p:sp>
      <p:sp>
        <p:nvSpPr>
          <p:cNvPr id="25" name="Rectangle 24"/>
          <p:cNvSpPr/>
          <p:nvPr/>
        </p:nvSpPr>
        <p:spPr>
          <a:xfrm>
            <a:off x="6126480" y="3200400"/>
            <a:ext cx="5577840" cy="82296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3200400"/>
            <a:ext cx="54864" cy="822960"/>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3291840"/>
            <a:ext cx="2011680" cy="457200"/>
          </a:xfrm>
          <a:prstGeom prst="rect">
            <a:avLst/>
          </a:prstGeom>
          <a:noFill/>
        </p:spPr>
        <p:txBody>
          <a:bodyPr wrap="square">
            <a:spAutoFit/>
          </a:bodyPr>
          <a:lstStyle/>
          <a:p>
            <a:pPr algn="l"/>
            <a:r>
              <a:rPr sz="2200" b="1" i="0">
                <a:solidFill>
                  <a:srgbClr val="E03030"/>
                </a:solidFill>
                <a:latin typeface="Calibri"/>
              </a:rPr>
              <a:t>₹120–400+</a:t>
            </a:r>
          </a:p>
        </p:txBody>
      </p:sp>
      <p:sp>
        <p:nvSpPr>
          <p:cNvPr id="28" name="TextBox 27"/>
          <p:cNvSpPr txBox="1"/>
          <p:nvPr/>
        </p:nvSpPr>
        <p:spPr>
          <a:xfrm>
            <a:off x="8412480" y="3364992"/>
            <a:ext cx="3108960" cy="502920"/>
          </a:xfrm>
          <a:prstGeom prst="rect">
            <a:avLst/>
          </a:prstGeom>
          <a:noFill/>
        </p:spPr>
        <p:txBody>
          <a:bodyPr wrap="square">
            <a:spAutoFit/>
          </a:bodyPr>
          <a:lstStyle/>
          <a:p>
            <a:pPr algn="l"/>
            <a:r>
              <a:rPr sz="1000" b="0" i="0">
                <a:solidFill>
                  <a:srgbClr val="D4E1ED"/>
                </a:solidFill>
                <a:latin typeface="Calibri"/>
              </a:rPr>
              <a:t>per voter reached in traditional campaign</a:t>
            </a:r>
          </a:p>
        </p:txBody>
      </p:sp>
      <p:sp>
        <p:nvSpPr>
          <p:cNvPr id="29" name="Rectangle 28"/>
          <p:cNvSpPr/>
          <p:nvPr/>
        </p:nvSpPr>
        <p:spPr>
          <a:xfrm>
            <a:off x="6126480" y="4160520"/>
            <a:ext cx="5577840" cy="82296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4160520"/>
            <a:ext cx="54864" cy="822960"/>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4251960"/>
            <a:ext cx="2011680" cy="457200"/>
          </a:xfrm>
          <a:prstGeom prst="rect">
            <a:avLst/>
          </a:prstGeom>
          <a:noFill/>
        </p:spPr>
        <p:txBody>
          <a:bodyPr wrap="square">
            <a:spAutoFit/>
          </a:bodyPr>
          <a:lstStyle/>
          <a:p>
            <a:pPr algn="l"/>
            <a:r>
              <a:rPr sz="2200" b="1" i="0">
                <a:solidFill>
                  <a:srgbClr val="138A3C"/>
                </a:solidFill>
                <a:latin typeface="Calibri"/>
              </a:rPr>
              <a:t>10x cheaper</a:t>
            </a:r>
          </a:p>
        </p:txBody>
      </p:sp>
      <p:sp>
        <p:nvSpPr>
          <p:cNvPr id="32" name="TextBox 31"/>
          <p:cNvSpPr txBox="1"/>
          <p:nvPr/>
        </p:nvSpPr>
        <p:spPr>
          <a:xfrm>
            <a:off x="8412480" y="4325112"/>
            <a:ext cx="3108960" cy="502920"/>
          </a:xfrm>
          <a:prstGeom prst="rect">
            <a:avLst/>
          </a:prstGeom>
          <a:noFill/>
        </p:spPr>
        <p:txBody>
          <a:bodyPr wrap="square">
            <a:spAutoFit/>
          </a:bodyPr>
          <a:lstStyle/>
          <a:p>
            <a:pPr algn="l"/>
            <a:r>
              <a:rPr sz="1000" b="0" i="0">
                <a:solidFill>
                  <a:srgbClr val="D4E1ED"/>
                </a:solidFill>
                <a:latin typeface="Calibri"/>
              </a:rPr>
              <a:t>than booth-level campaign spend per contact</a:t>
            </a:r>
          </a:p>
        </p:txBody>
      </p:sp>
      <p:sp>
        <p:nvSpPr>
          <p:cNvPr id="33" name="Rectangle 32"/>
          <p:cNvSpPr/>
          <p:nvPr/>
        </p:nvSpPr>
        <p:spPr>
          <a:xfrm>
            <a:off x="6126480" y="5120640"/>
            <a:ext cx="5577840" cy="82296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26480" y="5120640"/>
            <a:ext cx="54864" cy="822960"/>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5212080"/>
            <a:ext cx="2011680" cy="457200"/>
          </a:xfrm>
          <a:prstGeom prst="rect">
            <a:avLst/>
          </a:prstGeom>
          <a:noFill/>
        </p:spPr>
        <p:txBody>
          <a:bodyPr wrap="square">
            <a:spAutoFit/>
          </a:bodyPr>
          <a:lstStyle/>
          <a:p>
            <a:pPr algn="l"/>
            <a:r>
              <a:rPr sz="2200" b="1" i="0">
                <a:solidFill>
                  <a:srgbClr val="0EB59A"/>
                </a:solidFill>
                <a:latin typeface="Calibri"/>
              </a:rPr>
              <a:t>24/7</a:t>
            </a:r>
          </a:p>
        </p:txBody>
      </p:sp>
      <p:sp>
        <p:nvSpPr>
          <p:cNvPr id="36" name="TextBox 35"/>
          <p:cNvSpPr txBox="1"/>
          <p:nvPr/>
        </p:nvSpPr>
        <p:spPr>
          <a:xfrm>
            <a:off x="8412480" y="5285232"/>
            <a:ext cx="3108960" cy="502920"/>
          </a:xfrm>
          <a:prstGeom prst="rect">
            <a:avLst/>
          </a:prstGeom>
          <a:noFill/>
        </p:spPr>
        <p:txBody>
          <a:bodyPr wrap="square">
            <a:spAutoFit/>
          </a:bodyPr>
          <a:lstStyle/>
          <a:p>
            <a:pPr algn="l"/>
            <a:r>
              <a:rPr sz="1000" b="0" i="0">
                <a:solidFill>
                  <a:srgbClr val="D4E1ED"/>
                </a:solidFill>
                <a:latin typeface="Calibri"/>
              </a:rPr>
              <a:t>availability — your PA works 8 hours</a:t>
            </a:r>
          </a:p>
        </p:txBody>
      </p:sp>
      <p:sp>
        <p:nvSpPr>
          <p:cNvPr id="37" name="TextBox 36"/>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2377440" cy="3291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2377440" cy="283464"/>
          </a:xfrm>
          <a:prstGeom prst="rect">
            <a:avLst/>
          </a:prstGeom>
          <a:noFill/>
        </p:spPr>
        <p:txBody>
          <a:bodyPr wrap="square">
            <a:spAutoFit/>
          </a:bodyPr>
          <a:lstStyle/>
          <a:p>
            <a:pPr algn="ctr"/>
            <a:r>
              <a:rPr sz="900" b="1" i="0">
                <a:solidFill>
                  <a:srgbClr val="FFFFFF"/>
                </a:solidFill>
                <a:latin typeface="Calibri"/>
              </a:rPr>
              <a:t>FOR THE ASPIRANT</a:t>
            </a:r>
          </a:p>
        </p:txBody>
      </p:sp>
      <p:sp>
        <p:nvSpPr>
          <p:cNvPr id="6" name="TextBox 5"/>
          <p:cNvSpPr txBox="1"/>
          <p:nvPr/>
        </p:nvSpPr>
        <p:spPr>
          <a:xfrm>
            <a:off x="548640" y="685800"/>
            <a:ext cx="8229600" cy="1280160"/>
          </a:xfrm>
          <a:prstGeom prst="rect">
            <a:avLst/>
          </a:prstGeom>
          <a:noFill/>
        </p:spPr>
        <p:txBody>
          <a:bodyPr wrap="square">
            <a:spAutoFit/>
          </a:bodyPr>
          <a:lstStyle/>
          <a:p>
            <a:pPr algn="l"/>
            <a:r>
              <a:rPr sz="3800" b="1" i="0">
                <a:solidFill>
                  <a:srgbClr val="FFFFFF"/>
                </a:solidFill>
                <a:latin typeface="Calibri"/>
              </a:rPr>
              <a:t>Win the election before
the voting booth opens.</a:t>
            </a:r>
          </a:p>
        </p:txBody>
      </p:sp>
      <p:sp>
        <p:nvSpPr>
          <p:cNvPr id="7" name="Rectangle 6"/>
          <p:cNvSpPr/>
          <p:nvPr/>
        </p:nvSpPr>
        <p:spPr>
          <a:xfrm>
            <a:off x="548640" y="20116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0972800" cy="457200"/>
          </a:xfrm>
          <a:prstGeom prst="rect">
            <a:avLst/>
          </a:prstGeom>
          <a:noFill/>
        </p:spPr>
        <p:txBody>
          <a:bodyPr wrap="square">
            <a:spAutoFit/>
          </a:bodyPr>
          <a:lstStyle/>
          <a:p>
            <a:pPr algn="l"/>
            <a:r>
              <a:rPr sz="1400" b="0" i="1">
                <a:solidFill>
                  <a:srgbClr val="F5C518"/>
                </a:solidFill>
                <a:latin typeface="Calibri"/>
              </a:rPr>
              <a:t>The candidates who win in 2026 and 2029 are building constituency intelligence TODAY.</a:t>
            </a:r>
          </a:p>
        </p:txBody>
      </p:sp>
      <p:sp>
        <p:nvSpPr>
          <p:cNvPr id="9" name="Rectangle 8"/>
          <p:cNvSpPr/>
          <p:nvPr/>
        </p:nvSpPr>
        <p:spPr>
          <a:xfrm>
            <a:off x="457200" y="2651760"/>
            <a:ext cx="3474720" cy="39319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651760"/>
            <a:ext cx="34747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788920"/>
            <a:ext cx="3474720" cy="502920"/>
          </a:xfrm>
          <a:prstGeom prst="rect">
            <a:avLst/>
          </a:prstGeom>
          <a:noFill/>
        </p:spPr>
        <p:txBody>
          <a:bodyPr wrap="square">
            <a:spAutoFit/>
          </a:bodyPr>
          <a:lstStyle/>
          <a:p>
            <a:pPr algn="ctr"/>
            <a:r>
              <a:rPr sz="1500" b="1" i="0">
                <a:solidFill>
                  <a:srgbClr val="FFFFFF"/>
                </a:solidFill>
                <a:latin typeface="Calibri"/>
              </a:rPr>
              <a:t>Know Your
Constituency</a:t>
            </a:r>
          </a:p>
        </p:txBody>
      </p:sp>
      <p:sp>
        <p:nvSpPr>
          <p:cNvPr id="12" name="TextBox 11"/>
          <p:cNvSpPr txBox="1"/>
          <p:nvPr/>
        </p:nvSpPr>
        <p:spPr>
          <a:xfrm>
            <a:off x="594360" y="3429000"/>
            <a:ext cx="3200400" cy="1691640"/>
          </a:xfrm>
          <a:prstGeom prst="rect">
            <a:avLst/>
          </a:prstGeom>
          <a:noFill/>
        </p:spPr>
        <p:txBody>
          <a:bodyPr wrap="square">
            <a:spAutoFit/>
          </a:bodyPr>
          <a:lstStyle/>
          <a:p>
            <a:pPr algn="l"/>
            <a:r>
              <a:rPr sz="900" b="0" i="0">
                <a:solidFill>
                  <a:srgbClr val="D4E1ED"/>
                </a:solidFill>
                <a:latin typeface="Calibri"/>
              </a:rPr>
              <a:t>Start a WhatsApp number for your constituency RIGHT NOW. Collect real grievances from real people. Know the top 10 issues in every ward before you file your nomination. Your opponent is guessing. You're not.</a:t>
            </a:r>
          </a:p>
        </p:txBody>
      </p:sp>
      <p:sp>
        <p:nvSpPr>
          <p:cNvPr id="13" name="TextBox 12"/>
          <p:cNvSpPr txBox="1"/>
          <p:nvPr/>
        </p:nvSpPr>
        <p:spPr>
          <a:xfrm>
            <a:off x="594360" y="5212080"/>
            <a:ext cx="3200400" cy="347472"/>
          </a:xfrm>
          <a:prstGeom prst="rect">
            <a:avLst/>
          </a:prstGeom>
          <a:noFill/>
        </p:spPr>
        <p:txBody>
          <a:bodyPr wrap="square">
            <a:spAutoFit/>
          </a:bodyPr>
          <a:lstStyle/>
          <a:p>
            <a:pPr algn="l"/>
            <a:r>
              <a:rPr sz="900" b="1" i="0">
                <a:solidFill>
                  <a:srgbClr val="7C3AED"/>
                </a:solidFill>
                <a:latin typeface="Calibri"/>
              </a:rPr>
              <a:t>✓  Complaint data by booth and ward</a:t>
            </a:r>
          </a:p>
        </p:txBody>
      </p:sp>
      <p:sp>
        <p:nvSpPr>
          <p:cNvPr id="14" name="TextBox 13"/>
          <p:cNvSpPr txBox="1"/>
          <p:nvPr/>
        </p:nvSpPr>
        <p:spPr>
          <a:xfrm>
            <a:off x="594360" y="5614416"/>
            <a:ext cx="3200400" cy="347472"/>
          </a:xfrm>
          <a:prstGeom prst="rect">
            <a:avLst/>
          </a:prstGeom>
          <a:noFill/>
        </p:spPr>
        <p:txBody>
          <a:bodyPr wrap="square">
            <a:spAutoFit/>
          </a:bodyPr>
          <a:lstStyle/>
          <a:p>
            <a:pPr algn="l"/>
            <a:r>
              <a:rPr sz="900" b="1" i="0">
                <a:solidFill>
                  <a:srgbClr val="7C3AED"/>
                </a:solidFill>
                <a:latin typeface="Calibri"/>
              </a:rPr>
              <a:t>✓  Language-wise constituent profile</a:t>
            </a:r>
          </a:p>
        </p:txBody>
      </p:sp>
      <p:sp>
        <p:nvSpPr>
          <p:cNvPr id="15" name="TextBox 14"/>
          <p:cNvSpPr txBox="1"/>
          <p:nvPr/>
        </p:nvSpPr>
        <p:spPr>
          <a:xfrm>
            <a:off x="594360" y="6016752"/>
            <a:ext cx="3200400" cy="347472"/>
          </a:xfrm>
          <a:prstGeom prst="rect">
            <a:avLst/>
          </a:prstGeom>
          <a:noFill/>
        </p:spPr>
        <p:txBody>
          <a:bodyPr wrap="square">
            <a:spAutoFit/>
          </a:bodyPr>
          <a:lstStyle/>
          <a:p>
            <a:pPr algn="l"/>
            <a:r>
              <a:rPr sz="900" b="1" i="0">
                <a:solidFill>
                  <a:srgbClr val="7C3AED"/>
                </a:solidFill>
                <a:latin typeface="Calibri"/>
              </a:rPr>
              <a:t>✓  Top 10 issues per Assembly segment</a:t>
            </a:r>
          </a:p>
        </p:txBody>
      </p:sp>
      <p:sp>
        <p:nvSpPr>
          <p:cNvPr id="16" name="Rectangle 15"/>
          <p:cNvSpPr/>
          <p:nvPr/>
        </p:nvSpPr>
        <p:spPr>
          <a:xfrm>
            <a:off x="4251960" y="2651760"/>
            <a:ext cx="3474720" cy="39319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51960" y="2651760"/>
            <a:ext cx="347472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51960" y="2788920"/>
            <a:ext cx="3474720" cy="502920"/>
          </a:xfrm>
          <a:prstGeom prst="rect">
            <a:avLst/>
          </a:prstGeom>
          <a:noFill/>
        </p:spPr>
        <p:txBody>
          <a:bodyPr wrap="square">
            <a:spAutoFit/>
          </a:bodyPr>
          <a:lstStyle/>
          <a:p>
            <a:pPr algn="ctr"/>
            <a:r>
              <a:rPr sz="1500" b="1" i="0">
                <a:solidFill>
                  <a:srgbClr val="FFFFFF"/>
                </a:solidFill>
                <a:latin typeface="Calibri"/>
              </a:rPr>
              <a:t>Build Your
Narrative</a:t>
            </a:r>
          </a:p>
        </p:txBody>
      </p:sp>
      <p:sp>
        <p:nvSpPr>
          <p:cNvPr id="19" name="TextBox 18"/>
          <p:cNvSpPr txBox="1"/>
          <p:nvPr/>
        </p:nvSpPr>
        <p:spPr>
          <a:xfrm>
            <a:off x="4389120" y="3429000"/>
            <a:ext cx="3200400" cy="1691640"/>
          </a:xfrm>
          <a:prstGeom prst="rect">
            <a:avLst/>
          </a:prstGeom>
          <a:noFill/>
        </p:spPr>
        <p:txBody>
          <a:bodyPr wrap="square">
            <a:spAutoFit/>
          </a:bodyPr>
          <a:lstStyle/>
          <a:p>
            <a:pPr algn="l"/>
            <a:r>
              <a:rPr sz="900" b="0" i="0">
                <a:solidFill>
                  <a:srgbClr val="D4E1ED"/>
                </a:solidFill>
                <a:latin typeface="Calibri"/>
              </a:rPr>
              <a:t>Your election manifesto shouldn't be promises — it should be solutions. Needle turns real grievance data into a data-backed manifesto. 'My constituency told me their top problem is water. Here's my plan.' That's not a speech — that's a movement.</a:t>
            </a:r>
          </a:p>
        </p:txBody>
      </p:sp>
      <p:sp>
        <p:nvSpPr>
          <p:cNvPr id="20" name="TextBox 19"/>
          <p:cNvSpPr txBox="1"/>
          <p:nvPr/>
        </p:nvSpPr>
        <p:spPr>
          <a:xfrm>
            <a:off x="4389120" y="5212080"/>
            <a:ext cx="3200400" cy="347472"/>
          </a:xfrm>
          <a:prstGeom prst="rect">
            <a:avLst/>
          </a:prstGeom>
          <a:noFill/>
        </p:spPr>
        <p:txBody>
          <a:bodyPr wrap="square">
            <a:spAutoFit/>
          </a:bodyPr>
          <a:lstStyle/>
          <a:p>
            <a:pPr algn="l"/>
            <a:r>
              <a:rPr sz="900" b="1" i="0">
                <a:solidFill>
                  <a:srgbClr val="F5C518"/>
                </a:solidFill>
                <a:latin typeface="Calibri"/>
              </a:rPr>
              <a:t>✓  Manifesto from real data, not party templates</a:t>
            </a:r>
          </a:p>
        </p:txBody>
      </p:sp>
      <p:sp>
        <p:nvSpPr>
          <p:cNvPr id="21" name="TextBox 20"/>
          <p:cNvSpPr txBox="1"/>
          <p:nvPr/>
        </p:nvSpPr>
        <p:spPr>
          <a:xfrm>
            <a:off x="4389120" y="5614416"/>
            <a:ext cx="3200400" cy="347472"/>
          </a:xfrm>
          <a:prstGeom prst="rect">
            <a:avLst/>
          </a:prstGeom>
          <a:noFill/>
        </p:spPr>
        <p:txBody>
          <a:bodyPr wrap="square">
            <a:spAutoFit/>
          </a:bodyPr>
          <a:lstStyle/>
          <a:p>
            <a:pPr algn="l"/>
            <a:r>
              <a:rPr sz="900" b="1" i="0">
                <a:solidFill>
                  <a:srgbClr val="F5C518"/>
                </a:solidFill>
                <a:latin typeface="Calibri"/>
              </a:rPr>
              <a:t>✓  CSR project commitments with actual company names</a:t>
            </a:r>
          </a:p>
        </p:txBody>
      </p:sp>
      <p:sp>
        <p:nvSpPr>
          <p:cNvPr id="22" name="TextBox 21"/>
          <p:cNvSpPr txBox="1"/>
          <p:nvPr/>
        </p:nvSpPr>
        <p:spPr>
          <a:xfrm>
            <a:off x="4389120" y="6016752"/>
            <a:ext cx="3200400" cy="347472"/>
          </a:xfrm>
          <a:prstGeom prst="rect">
            <a:avLst/>
          </a:prstGeom>
          <a:noFill/>
        </p:spPr>
        <p:txBody>
          <a:bodyPr wrap="square">
            <a:spAutoFit/>
          </a:bodyPr>
          <a:lstStyle/>
          <a:p>
            <a:pPr algn="l"/>
            <a:r>
              <a:rPr sz="900" b="1" i="0">
                <a:solidFill>
                  <a:srgbClr val="F5C518"/>
                </a:solidFill>
                <a:latin typeface="Calibri"/>
              </a:rPr>
              <a:t>✓  Draft speeches per constituency visit</a:t>
            </a:r>
          </a:p>
        </p:txBody>
      </p:sp>
      <p:sp>
        <p:nvSpPr>
          <p:cNvPr id="23" name="Rectangle 22"/>
          <p:cNvSpPr/>
          <p:nvPr/>
        </p:nvSpPr>
        <p:spPr>
          <a:xfrm>
            <a:off x="8046720" y="2651760"/>
            <a:ext cx="3474720" cy="393192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0" y="2651760"/>
            <a:ext cx="3474720" cy="54864"/>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2788920"/>
            <a:ext cx="3474720" cy="502920"/>
          </a:xfrm>
          <a:prstGeom prst="rect">
            <a:avLst/>
          </a:prstGeom>
          <a:noFill/>
        </p:spPr>
        <p:txBody>
          <a:bodyPr wrap="square">
            <a:spAutoFit/>
          </a:bodyPr>
          <a:lstStyle/>
          <a:p>
            <a:pPr algn="ctr"/>
            <a:r>
              <a:rPr sz="1500" b="1" i="0">
                <a:solidFill>
                  <a:srgbClr val="FFFFFF"/>
                </a:solidFill>
                <a:latin typeface="Calibri"/>
              </a:rPr>
              <a:t>Establish
Credibility</a:t>
            </a:r>
          </a:p>
        </p:txBody>
      </p:sp>
      <p:sp>
        <p:nvSpPr>
          <p:cNvPr id="26" name="TextBox 25"/>
          <p:cNvSpPr txBox="1"/>
          <p:nvPr/>
        </p:nvSpPr>
        <p:spPr>
          <a:xfrm>
            <a:off x="8183880" y="3429000"/>
            <a:ext cx="3200400" cy="1691640"/>
          </a:xfrm>
          <a:prstGeom prst="rect">
            <a:avLst/>
          </a:prstGeom>
          <a:noFill/>
        </p:spPr>
        <p:txBody>
          <a:bodyPr wrap="square">
            <a:spAutoFit/>
          </a:bodyPr>
          <a:lstStyle/>
          <a:p>
            <a:pPr algn="l"/>
            <a:r>
              <a:rPr sz="900" b="0" i="0">
                <a:solidFill>
                  <a:srgbClr val="D4E1ED"/>
                </a:solidFill>
                <a:latin typeface="Calibri"/>
              </a:rPr>
              <a:t>Use Needle to respond to every WhatsApp message, show you care before you win, and document your responsiveness. When election season comes, you don't introduce yourself — you show a 12-month record of being the only candidate who actually replied.</a:t>
            </a:r>
          </a:p>
        </p:txBody>
      </p:sp>
      <p:sp>
        <p:nvSpPr>
          <p:cNvPr id="27" name="TextBox 26"/>
          <p:cNvSpPr txBox="1"/>
          <p:nvPr/>
        </p:nvSpPr>
        <p:spPr>
          <a:xfrm>
            <a:off x="8183880" y="5212080"/>
            <a:ext cx="3200400" cy="347472"/>
          </a:xfrm>
          <a:prstGeom prst="rect">
            <a:avLst/>
          </a:prstGeom>
          <a:noFill/>
        </p:spPr>
        <p:txBody>
          <a:bodyPr wrap="square">
            <a:spAutoFit/>
          </a:bodyPr>
          <a:lstStyle/>
          <a:p>
            <a:pPr algn="l"/>
            <a:r>
              <a:rPr sz="900" b="1" i="0">
                <a:solidFill>
                  <a:srgbClr val="0EB59A"/>
                </a:solidFill>
                <a:latin typeface="Calibri"/>
              </a:rPr>
              <a:t>✓  12-month response record</a:t>
            </a:r>
          </a:p>
        </p:txBody>
      </p:sp>
      <p:sp>
        <p:nvSpPr>
          <p:cNvPr id="28" name="TextBox 27"/>
          <p:cNvSpPr txBox="1"/>
          <p:nvPr/>
        </p:nvSpPr>
        <p:spPr>
          <a:xfrm>
            <a:off x="8183880" y="5614416"/>
            <a:ext cx="3200400" cy="347472"/>
          </a:xfrm>
          <a:prstGeom prst="rect">
            <a:avLst/>
          </a:prstGeom>
          <a:noFill/>
        </p:spPr>
        <p:txBody>
          <a:bodyPr wrap="square">
            <a:spAutoFit/>
          </a:bodyPr>
          <a:lstStyle/>
          <a:p>
            <a:pPr algn="l"/>
            <a:r>
              <a:rPr sz="900" b="1" i="0">
                <a:solidFill>
                  <a:srgbClr val="0EB59A"/>
                </a:solidFill>
                <a:latin typeface="Calibri"/>
              </a:rPr>
              <a:t>✓  Documented constituent interactions</a:t>
            </a:r>
          </a:p>
        </p:txBody>
      </p:sp>
      <p:sp>
        <p:nvSpPr>
          <p:cNvPr id="29" name="TextBox 28"/>
          <p:cNvSpPr txBox="1"/>
          <p:nvPr/>
        </p:nvSpPr>
        <p:spPr>
          <a:xfrm>
            <a:off x="8183880" y="6016752"/>
            <a:ext cx="3200400" cy="347472"/>
          </a:xfrm>
          <a:prstGeom prst="rect">
            <a:avLst/>
          </a:prstGeom>
          <a:noFill/>
        </p:spPr>
        <p:txBody>
          <a:bodyPr wrap="square">
            <a:spAutoFit/>
          </a:bodyPr>
          <a:lstStyle/>
          <a:p>
            <a:pPr algn="l"/>
            <a:r>
              <a:rPr sz="900" b="1" i="0">
                <a:solidFill>
                  <a:srgbClr val="0EB59A"/>
                </a:solidFill>
                <a:latin typeface="Calibri"/>
              </a:rPr>
              <a:t>✓  Digital proof of accountability</a:t>
            </a:r>
          </a:p>
        </p:txBody>
      </p:sp>
      <p:sp>
        <p:nvSpPr>
          <p:cNvPr id="30" name="TextBox 29"/>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01168"/>
            <a:ext cx="3017520" cy="329184"/>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6888"/>
            <a:ext cx="3017520" cy="283464"/>
          </a:xfrm>
          <a:prstGeom prst="rect">
            <a:avLst/>
          </a:prstGeom>
          <a:noFill/>
        </p:spPr>
        <p:txBody>
          <a:bodyPr wrap="square">
            <a:spAutoFit/>
          </a:bodyPr>
          <a:lstStyle/>
          <a:p>
            <a:pPr algn="ctr"/>
            <a:r>
              <a:rPr sz="900" b="1" i="0">
                <a:solidFill>
                  <a:srgbClr val="07101E"/>
                </a:solidFill>
                <a:latin typeface="Calibri"/>
              </a:rPr>
              <a:t>THE INTELLIGENCE ADVANTAGE</a:t>
            </a:r>
          </a:p>
        </p:txBody>
      </p:sp>
      <p:sp>
        <p:nvSpPr>
          <p:cNvPr id="6" name="TextBox 5"/>
          <p:cNvSpPr txBox="1"/>
          <p:nvPr/>
        </p:nvSpPr>
        <p:spPr>
          <a:xfrm>
            <a:off x="548640" y="685800"/>
            <a:ext cx="8686800" cy="1280160"/>
          </a:xfrm>
          <a:prstGeom prst="rect">
            <a:avLst/>
          </a:prstGeom>
          <a:noFill/>
        </p:spPr>
        <p:txBody>
          <a:bodyPr wrap="square">
            <a:spAutoFit/>
          </a:bodyPr>
          <a:lstStyle/>
          <a:p>
            <a:pPr algn="l"/>
            <a:r>
              <a:rPr sz="3600" b="1" i="0">
                <a:solidFill>
                  <a:srgbClr val="FFFFFF"/>
                </a:solidFill>
                <a:latin typeface="Calibri"/>
              </a:rPr>
              <a:t>While others campaign on
assumptions, you govern on data.</a:t>
            </a:r>
          </a:p>
        </p:txBody>
      </p:sp>
      <p:sp>
        <p:nvSpPr>
          <p:cNvPr id="7" name="Rectangle 6"/>
          <p:cNvSpPr/>
          <p:nvPr/>
        </p:nvSpPr>
        <p:spPr>
          <a:xfrm>
            <a:off x="548640" y="201168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0058400" cy="347472"/>
          </a:xfrm>
          <a:prstGeom prst="rect">
            <a:avLst/>
          </a:prstGeom>
          <a:noFill/>
        </p:spPr>
        <p:txBody>
          <a:bodyPr wrap="square">
            <a:spAutoFit/>
          </a:bodyPr>
          <a:lstStyle/>
          <a:p>
            <a:pPr algn="l"/>
            <a:r>
              <a:rPr sz="1000" b="0" i="1">
                <a:solidFill>
                  <a:srgbClr val="7A98B2"/>
                </a:solidFill>
                <a:latin typeface="Calibri"/>
              </a:rPr>
              <a:t>Sample constituency dashboard — what Needle shows you every morning:</a:t>
            </a:r>
          </a:p>
        </p:txBody>
      </p:sp>
      <p:sp>
        <p:nvSpPr>
          <p:cNvPr id="9" name="Rectangle 8"/>
          <p:cNvSpPr/>
          <p:nvPr/>
        </p:nvSpPr>
        <p:spPr>
          <a:xfrm>
            <a:off x="457200" y="2578608"/>
            <a:ext cx="5303520" cy="71323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578608"/>
            <a:ext cx="54864" cy="713232"/>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624328"/>
            <a:ext cx="2194560" cy="256032"/>
          </a:xfrm>
          <a:prstGeom prst="rect">
            <a:avLst/>
          </a:prstGeom>
          <a:noFill/>
        </p:spPr>
        <p:txBody>
          <a:bodyPr wrap="square">
            <a:spAutoFit/>
          </a:bodyPr>
          <a:lstStyle/>
          <a:p>
            <a:pPr algn="l"/>
            <a:r>
              <a:rPr sz="700" b="1" i="0">
                <a:solidFill>
                  <a:srgbClr val="FF7A00"/>
                </a:solidFill>
                <a:latin typeface="Calibri"/>
              </a:rPr>
              <a:t>TOP GRIEVANCE THIS WEEK</a:t>
            </a:r>
          </a:p>
        </p:txBody>
      </p:sp>
      <p:sp>
        <p:nvSpPr>
          <p:cNvPr id="12" name="TextBox 11"/>
          <p:cNvSpPr txBox="1"/>
          <p:nvPr/>
        </p:nvSpPr>
        <p:spPr>
          <a:xfrm>
            <a:off x="594360" y="2852928"/>
            <a:ext cx="1645920" cy="320040"/>
          </a:xfrm>
          <a:prstGeom prst="rect">
            <a:avLst/>
          </a:prstGeom>
          <a:noFill/>
        </p:spPr>
        <p:txBody>
          <a:bodyPr wrap="square">
            <a:spAutoFit/>
          </a:bodyPr>
          <a:lstStyle/>
          <a:p>
            <a:pPr algn="l"/>
            <a:r>
              <a:rPr sz="1600" b="1" i="0">
                <a:solidFill>
                  <a:srgbClr val="FFFFFF"/>
                </a:solidFill>
                <a:latin typeface="Calibri"/>
              </a:rPr>
              <a:t>Water Supply</a:t>
            </a:r>
          </a:p>
        </p:txBody>
      </p:sp>
      <p:sp>
        <p:nvSpPr>
          <p:cNvPr id="13" name="TextBox 12"/>
          <p:cNvSpPr txBox="1"/>
          <p:nvPr/>
        </p:nvSpPr>
        <p:spPr>
          <a:xfrm>
            <a:off x="2286000" y="2761488"/>
            <a:ext cx="3291840" cy="438912"/>
          </a:xfrm>
          <a:prstGeom prst="rect">
            <a:avLst/>
          </a:prstGeom>
          <a:noFill/>
        </p:spPr>
        <p:txBody>
          <a:bodyPr wrap="square">
            <a:spAutoFit/>
          </a:bodyPr>
          <a:lstStyle/>
          <a:p>
            <a:pPr algn="l"/>
            <a:r>
              <a:rPr sz="900" b="0" i="0">
                <a:solidFill>
                  <a:srgbClr val="D4E1ED"/>
                </a:solidFill>
                <a:latin typeface="Calibri"/>
              </a:rPr>
              <a:t>34 complaints · ↑ 18% vs last week · Highest in Bhosari ward</a:t>
            </a:r>
          </a:p>
        </p:txBody>
      </p:sp>
      <p:sp>
        <p:nvSpPr>
          <p:cNvPr id="14" name="Rectangle 13"/>
          <p:cNvSpPr/>
          <p:nvPr/>
        </p:nvSpPr>
        <p:spPr>
          <a:xfrm>
            <a:off x="6263640" y="2578608"/>
            <a:ext cx="5303520" cy="71323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2578608"/>
            <a:ext cx="54864" cy="71323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624328"/>
            <a:ext cx="2194560" cy="256032"/>
          </a:xfrm>
          <a:prstGeom prst="rect">
            <a:avLst/>
          </a:prstGeom>
          <a:noFill/>
        </p:spPr>
        <p:txBody>
          <a:bodyPr wrap="square">
            <a:spAutoFit/>
          </a:bodyPr>
          <a:lstStyle/>
          <a:p>
            <a:pPr algn="l"/>
            <a:r>
              <a:rPr sz="700" b="1" i="0">
                <a:solidFill>
                  <a:srgbClr val="E03030"/>
                </a:solidFill>
                <a:latin typeface="Calibri"/>
              </a:rPr>
              <a:t>PENDING CASES</a:t>
            </a:r>
          </a:p>
        </p:txBody>
      </p:sp>
      <p:sp>
        <p:nvSpPr>
          <p:cNvPr id="17" name="TextBox 16"/>
          <p:cNvSpPr txBox="1"/>
          <p:nvPr/>
        </p:nvSpPr>
        <p:spPr>
          <a:xfrm>
            <a:off x="6400800" y="2852928"/>
            <a:ext cx="1645920" cy="320040"/>
          </a:xfrm>
          <a:prstGeom prst="rect">
            <a:avLst/>
          </a:prstGeom>
          <a:noFill/>
        </p:spPr>
        <p:txBody>
          <a:bodyPr wrap="square">
            <a:spAutoFit/>
          </a:bodyPr>
          <a:lstStyle/>
          <a:p>
            <a:pPr algn="l"/>
            <a:r>
              <a:rPr sz="1600" b="1" i="0">
                <a:solidFill>
                  <a:srgbClr val="FFFFFF"/>
                </a:solidFill>
                <a:latin typeface="Calibri"/>
              </a:rPr>
              <a:t>127 open</a:t>
            </a:r>
          </a:p>
        </p:txBody>
      </p:sp>
      <p:sp>
        <p:nvSpPr>
          <p:cNvPr id="18" name="TextBox 17"/>
          <p:cNvSpPr txBox="1"/>
          <p:nvPr/>
        </p:nvSpPr>
        <p:spPr>
          <a:xfrm>
            <a:off x="8092440" y="2761488"/>
            <a:ext cx="3291840" cy="438912"/>
          </a:xfrm>
          <a:prstGeom prst="rect">
            <a:avLst/>
          </a:prstGeom>
          <a:noFill/>
        </p:spPr>
        <p:txBody>
          <a:bodyPr wrap="square">
            <a:spAutoFit/>
          </a:bodyPr>
          <a:lstStyle/>
          <a:p>
            <a:pPr algn="l"/>
            <a:r>
              <a:rPr sz="900" b="0" i="0">
                <a:solidFill>
                  <a:srgbClr val="D4E1ED"/>
                </a:solidFill>
                <a:latin typeface="Calibri"/>
              </a:rPr>
              <a:t>18 critical · 43 in progress · 66 new this week</a:t>
            </a:r>
          </a:p>
        </p:txBody>
      </p:sp>
      <p:sp>
        <p:nvSpPr>
          <p:cNvPr id="19" name="Rectangle 18"/>
          <p:cNvSpPr/>
          <p:nvPr/>
        </p:nvSpPr>
        <p:spPr>
          <a:xfrm>
            <a:off x="457200" y="3401568"/>
            <a:ext cx="5303520" cy="71323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401568"/>
            <a:ext cx="54864" cy="713232"/>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447288"/>
            <a:ext cx="2194560" cy="256032"/>
          </a:xfrm>
          <a:prstGeom prst="rect">
            <a:avLst/>
          </a:prstGeom>
          <a:noFill/>
        </p:spPr>
        <p:txBody>
          <a:bodyPr wrap="square">
            <a:spAutoFit/>
          </a:bodyPr>
          <a:lstStyle/>
          <a:p>
            <a:pPr algn="l"/>
            <a:r>
              <a:rPr sz="700" b="1" i="0">
                <a:solidFill>
                  <a:srgbClr val="138A3C"/>
                </a:solidFill>
                <a:latin typeface="Calibri"/>
              </a:rPr>
              <a:t>RESOLVED THIS MONTH</a:t>
            </a:r>
          </a:p>
        </p:txBody>
      </p:sp>
      <p:sp>
        <p:nvSpPr>
          <p:cNvPr id="22" name="TextBox 21"/>
          <p:cNvSpPr txBox="1"/>
          <p:nvPr/>
        </p:nvSpPr>
        <p:spPr>
          <a:xfrm>
            <a:off x="594360" y="3675888"/>
            <a:ext cx="1645920" cy="320040"/>
          </a:xfrm>
          <a:prstGeom prst="rect">
            <a:avLst/>
          </a:prstGeom>
          <a:noFill/>
        </p:spPr>
        <p:txBody>
          <a:bodyPr wrap="square">
            <a:spAutoFit/>
          </a:bodyPr>
          <a:lstStyle/>
          <a:p>
            <a:pPr algn="l"/>
            <a:r>
              <a:rPr sz="1600" b="1" i="0">
                <a:solidFill>
                  <a:srgbClr val="FFFFFF"/>
                </a:solidFill>
                <a:latin typeface="Calibri"/>
              </a:rPr>
              <a:t>89 cases</a:t>
            </a:r>
          </a:p>
        </p:txBody>
      </p:sp>
      <p:sp>
        <p:nvSpPr>
          <p:cNvPr id="23" name="TextBox 22"/>
          <p:cNvSpPr txBox="1"/>
          <p:nvPr/>
        </p:nvSpPr>
        <p:spPr>
          <a:xfrm>
            <a:off x="2286000" y="3584448"/>
            <a:ext cx="3291840" cy="438912"/>
          </a:xfrm>
          <a:prstGeom prst="rect">
            <a:avLst/>
          </a:prstGeom>
          <a:noFill/>
        </p:spPr>
        <p:txBody>
          <a:bodyPr wrap="square">
            <a:spAutoFit/>
          </a:bodyPr>
          <a:lstStyle/>
          <a:p>
            <a:pPr algn="l"/>
            <a:r>
              <a:rPr sz="900" b="0" i="0">
                <a:solidFill>
                  <a:srgbClr val="D4E1ED"/>
                </a:solidFill>
                <a:latin typeface="Calibri"/>
              </a:rPr>
              <a:t>↑ 32% resolution rate · Avg. 4.2 days to close</a:t>
            </a:r>
          </a:p>
        </p:txBody>
      </p:sp>
      <p:sp>
        <p:nvSpPr>
          <p:cNvPr id="24" name="Rectangle 23"/>
          <p:cNvSpPr/>
          <p:nvPr/>
        </p:nvSpPr>
        <p:spPr>
          <a:xfrm>
            <a:off x="6263640" y="3401568"/>
            <a:ext cx="5303520" cy="71323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3401568"/>
            <a:ext cx="54864" cy="7132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447288"/>
            <a:ext cx="2194560" cy="256032"/>
          </a:xfrm>
          <a:prstGeom prst="rect">
            <a:avLst/>
          </a:prstGeom>
          <a:noFill/>
        </p:spPr>
        <p:txBody>
          <a:bodyPr wrap="square">
            <a:spAutoFit/>
          </a:bodyPr>
          <a:lstStyle/>
          <a:p>
            <a:pPr algn="l"/>
            <a:r>
              <a:rPr sz="700" b="1" i="0">
                <a:solidFill>
                  <a:srgbClr val="F5C518"/>
                </a:solidFill>
                <a:latin typeface="Calibri"/>
              </a:rPr>
              <a:t>CSR OPPORTUNITY IDENTIFIED</a:t>
            </a:r>
          </a:p>
        </p:txBody>
      </p:sp>
      <p:sp>
        <p:nvSpPr>
          <p:cNvPr id="27" name="TextBox 26"/>
          <p:cNvSpPr txBox="1"/>
          <p:nvPr/>
        </p:nvSpPr>
        <p:spPr>
          <a:xfrm>
            <a:off x="6400800" y="3675888"/>
            <a:ext cx="1645920" cy="320040"/>
          </a:xfrm>
          <a:prstGeom prst="rect">
            <a:avLst/>
          </a:prstGeom>
          <a:noFill/>
        </p:spPr>
        <p:txBody>
          <a:bodyPr wrap="square">
            <a:spAutoFit/>
          </a:bodyPr>
          <a:lstStyle/>
          <a:p>
            <a:pPr algn="l"/>
            <a:r>
              <a:rPr sz="1600" b="1" i="0">
                <a:solidFill>
                  <a:srgbClr val="FFFFFF"/>
                </a:solidFill>
                <a:latin typeface="Calibri"/>
              </a:rPr>
              <a:t>₹45L available</a:t>
            </a:r>
          </a:p>
        </p:txBody>
      </p:sp>
      <p:sp>
        <p:nvSpPr>
          <p:cNvPr id="28" name="TextBox 27"/>
          <p:cNvSpPr txBox="1"/>
          <p:nvPr/>
        </p:nvSpPr>
        <p:spPr>
          <a:xfrm>
            <a:off x="8092440" y="3584448"/>
            <a:ext cx="3291840" cy="438912"/>
          </a:xfrm>
          <a:prstGeom prst="rect">
            <a:avLst/>
          </a:prstGeom>
          <a:noFill/>
        </p:spPr>
        <p:txBody>
          <a:bodyPr wrap="square">
            <a:spAutoFit/>
          </a:bodyPr>
          <a:lstStyle/>
          <a:p>
            <a:pPr algn="l"/>
            <a:r>
              <a:rPr sz="900" b="0" i="0">
                <a:solidFill>
                  <a:srgbClr val="D4E1ED"/>
                </a:solidFill>
                <a:latin typeface="Calibri"/>
              </a:rPr>
              <a:t>3 companies matched to your water + road gaps</a:t>
            </a:r>
          </a:p>
        </p:txBody>
      </p:sp>
      <p:sp>
        <p:nvSpPr>
          <p:cNvPr id="29" name="Rectangle 28"/>
          <p:cNvSpPr/>
          <p:nvPr/>
        </p:nvSpPr>
        <p:spPr>
          <a:xfrm>
            <a:off x="457200" y="4224528"/>
            <a:ext cx="5303520" cy="71323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224528"/>
            <a:ext cx="54864" cy="713232"/>
          </a:xfrm>
          <a:prstGeom prst="rect">
            <a:avLst/>
          </a:prstGeom>
          <a:solidFill>
            <a:srgbClr val="0EB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4270248"/>
            <a:ext cx="2194560" cy="256032"/>
          </a:xfrm>
          <a:prstGeom prst="rect">
            <a:avLst/>
          </a:prstGeom>
          <a:noFill/>
        </p:spPr>
        <p:txBody>
          <a:bodyPr wrap="square">
            <a:spAutoFit/>
          </a:bodyPr>
          <a:lstStyle/>
          <a:p>
            <a:pPr algn="l"/>
            <a:r>
              <a:rPr sz="700" b="1" i="0">
                <a:solidFill>
                  <a:srgbClr val="0EB59A"/>
                </a:solidFill>
                <a:latin typeface="Calibri"/>
              </a:rPr>
              <a:t>PARLIAMENT QUESTION DUE</a:t>
            </a:r>
          </a:p>
        </p:txBody>
      </p:sp>
      <p:sp>
        <p:nvSpPr>
          <p:cNvPr id="32" name="TextBox 31"/>
          <p:cNvSpPr txBox="1"/>
          <p:nvPr/>
        </p:nvSpPr>
        <p:spPr>
          <a:xfrm>
            <a:off x="594360" y="4498848"/>
            <a:ext cx="1645920" cy="320040"/>
          </a:xfrm>
          <a:prstGeom prst="rect">
            <a:avLst/>
          </a:prstGeom>
          <a:noFill/>
        </p:spPr>
        <p:txBody>
          <a:bodyPr wrap="square">
            <a:spAutoFit/>
          </a:bodyPr>
          <a:lstStyle/>
          <a:p>
            <a:pPr algn="l"/>
            <a:r>
              <a:rPr sz="1600" b="1" i="0">
                <a:solidFill>
                  <a:srgbClr val="FFFFFF"/>
                </a:solidFill>
                <a:latin typeface="Calibri"/>
              </a:rPr>
              <a:t>2 questions</a:t>
            </a:r>
          </a:p>
        </p:txBody>
      </p:sp>
      <p:sp>
        <p:nvSpPr>
          <p:cNvPr id="33" name="TextBox 32"/>
          <p:cNvSpPr txBox="1"/>
          <p:nvPr/>
        </p:nvSpPr>
        <p:spPr>
          <a:xfrm>
            <a:off x="2286000" y="4407408"/>
            <a:ext cx="3291840" cy="438912"/>
          </a:xfrm>
          <a:prstGeom prst="rect">
            <a:avLst/>
          </a:prstGeom>
          <a:noFill/>
        </p:spPr>
        <p:txBody>
          <a:bodyPr wrap="square">
            <a:spAutoFit/>
          </a:bodyPr>
          <a:lstStyle/>
          <a:p>
            <a:pPr algn="l"/>
            <a:r>
              <a:rPr sz="900" b="0" i="0">
                <a:solidFill>
                  <a:srgbClr val="D4E1ED"/>
                </a:solidFill>
                <a:latin typeface="Calibri"/>
              </a:rPr>
              <a:t>Drafter ready · Rail Budget + MGNREGA allocation</a:t>
            </a:r>
          </a:p>
        </p:txBody>
      </p:sp>
      <p:sp>
        <p:nvSpPr>
          <p:cNvPr id="34" name="Rectangle 33"/>
          <p:cNvSpPr/>
          <p:nvPr/>
        </p:nvSpPr>
        <p:spPr>
          <a:xfrm>
            <a:off x="6263640" y="4224528"/>
            <a:ext cx="5303520" cy="71323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4224528"/>
            <a:ext cx="54864" cy="7132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4270248"/>
            <a:ext cx="2194560" cy="256032"/>
          </a:xfrm>
          <a:prstGeom prst="rect">
            <a:avLst/>
          </a:prstGeom>
          <a:noFill/>
        </p:spPr>
        <p:txBody>
          <a:bodyPr wrap="square">
            <a:spAutoFit/>
          </a:bodyPr>
          <a:lstStyle/>
          <a:p>
            <a:pPr algn="l"/>
            <a:r>
              <a:rPr sz="700" b="1" i="0">
                <a:solidFill>
                  <a:srgbClr val="7C3AED"/>
                </a:solidFill>
                <a:latin typeface="Calibri"/>
              </a:rPr>
              <a:t>CONSTITUENCY NEWS ALERTS</a:t>
            </a:r>
          </a:p>
        </p:txBody>
      </p:sp>
      <p:sp>
        <p:nvSpPr>
          <p:cNvPr id="37" name="TextBox 36"/>
          <p:cNvSpPr txBox="1"/>
          <p:nvPr/>
        </p:nvSpPr>
        <p:spPr>
          <a:xfrm>
            <a:off x="6400800" y="4498848"/>
            <a:ext cx="1645920" cy="320040"/>
          </a:xfrm>
          <a:prstGeom prst="rect">
            <a:avLst/>
          </a:prstGeom>
          <a:noFill/>
        </p:spPr>
        <p:txBody>
          <a:bodyPr wrap="square">
            <a:spAutoFit/>
          </a:bodyPr>
          <a:lstStyle/>
          <a:p>
            <a:pPr algn="l"/>
            <a:r>
              <a:rPr sz="1600" b="1" i="0">
                <a:solidFill>
                  <a:srgbClr val="FFFFFF"/>
                </a:solidFill>
                <a:latin typeface="Calibri"/>
              </a:rPr>
              <a:t>4 new alerts</a:t>
            </a:r>
          </a:p>
        </p:txBody>
      </p:sp>
      <p:sp>
        <p:nvSpPr>
          <p:cNvPr id="38" name="TextBox 37"/>
          <p:cNvSpPr txBox="1"/>
          <p:nvPr/>
        </p:nvSpPr>
        <p:spPr>
          <a:xfrm>
            <a:off x="8092440" y="4407408"/>
            <a:ext cx="3291840" cy="438912"/>
          </a:xfrm>
          <a:prstGeom prst="rect">
            <a:avLst/>
          </a:prstGeom>
          <a:noFill/>
        </p:spPr>
        <p:txBody>
          <a:bodyPr wrap="square">
            <a:spAutoFit/>
          </a:bodyPr>
          <a:lstStyle/>
          <a:p>
            <a:pPr algn="l"/>
            <a:r>
              <a:rPr sz="900" b="0" i="0">
                <a:solidFill>
                  <a:srgbClr val="D4E1ED"/>
                </a:solidFill>
                <a:latin typeface="Calibri"/>
              </a:rPr>
              <a:t>Local dam dispute · New highway announcement · School strike</a:t>
            </a:r>
          </a:p>
        </p:txBody>
      </p:sp>
      <p:sp>
        <p:nvSpPr>
          <p:cNvPr id="39" name="TextBox 38"/>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88952" cy="50292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88952" cy="502920"/>
          </a:xfrm>
          <a:prstGeom prst="rect">
            <a:avLst/>
          </a:prstGeom>
          <a:solidFill>
            <a:srgbClr val="138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365760"/>
            <a:ext cx="12188952" cy="4114800"/>
          </a:xfrm>
          <a:prstGeom prst="rect">
            <a:avLst/>
          </a:prstGeom>
          <a:noFill/>
        </p:spPr>
        <p:txBody>
          <a:bodyPr wrap="square">
            <a:spAutoFit/>
          </a:bodyPr>
          <a:lstStyle/>
          <a:p>
            <a:pPr algn="l"/>
            <a:r>
              <a:rPr sz="25000" b="1" i="0">
                <a:solidFill>
                  <a:srgbClr val="0C1A2E"/>
                </a:solidFill>
                <a:latin typeface="Calibri"/>
              </a:rPr>
              <a:t>START</a:t>
            </a:r>
          </a:p>
        </p:txBody>
      </p:sp>
      <p:sp>
        <p:nvSpPr>
          <p:cNvPr id="5" name="TextBox 4"/>
          <p:cNvSpPr txBox="1"/>
          <p:nvPr/>
        </p:nvSpPr>
        <p:spPr>
          <a:xfrm>
            <a:off x="548640" y="731520"/>
            <a:ext cx="8229600" cy="1554480"/>
          </a:xfrm>
          <a:prstGeom prst="rect">
            <a:avLst/>
          </a:prstGeom>
          <a:noFill/>
        </p:spPr>
        <p:txBody>
          <a:bodyPr wrap="square">
            <a:spAutoFit/>
          </a:bodyPr>
          <a:lstStyle/>
          <a:p>
            <a:pPr algn="l"/>
            <a:r>
              <a:rPr sz="4600" b="1" i="0">
                <a:solidFill>
                  <a:srgbClr val="FFFFFF"/>
                </a:solidFill>
                <a:latin typeface="Calibri"/>
              </a:rPr>
              <a:t>Your constituency is waiting.
Start today.</a:t>
            </a:r>
          </a:p>
        </p:txBody>
      </p:sp>
      <p:sp>
        <p:nvSpPr>
          <p:cNvPr id="6" name="TextBox 5"/>
          <p:cNvSpPr txBox="1"/>
          <p:nvPr/>
        </p:nvSpPr>
        <p:spPr>
          <a:xfrm>
            <a:off x="548640" y="2286000"/>
            <a:ext cx="7315200" cy="502920"/>
          </a:xfrm>
          <a:prstGeom prst="rect">
            <a:avLst/>
          </a:prstGeom>
          <a:noFill/>
        </p:spPr>
        <p:txBody>
          <a:bodyPr wrap="square">
            <a:spAutoFit/>
          </a:bodyPr>
          <a:lstStyle/>
          <a:p>
            <a:pPr algn="l"/>
            <a:r>
              <a:rPr sz="1600" b="0" i="0">
                <a:solidFill>
                  <a:srgbClr val="D4E1ED"/>
                </a:solidFill>
                <a:latin typeface="Calibri"/>
              </a:rPr>
              <a:t>Live in 48 hours. No IT team needed. Cancel anytime.</a:t>
            </a:r>
          </a:p>
        </p:txBody>
      </p:sp>
      <p:sp>
        <p:nvSpPr>
          <p:cNvPr id="7" name="Rectangle 6"/>
          <p:cNvSpPr/>
          <p:nvPr/>
        </p:nvSpPr>
        <p:spPr>
          <a:xfrm>
            <a:off x="548640" y="2880360"/>
            <a:ext cx="11091672" cy="13716"/>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063240"/>
            <a:ext cx="3474720" cy="164592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172968"/>
            <a:ext cx="3474720" cy="411480"/>
          </a:xfrm>
          <a:prstGeom prst="rect">
            <a:avLst/>
          </a:prstGeom>
          <a:noFill/>
        </p:spPr>
        <p:txBody>
          <a:bodyPr wrap="square">
            <a:spAutoFit/>
          </a:bodyPr>
          <a:lstStyle/>
          <a:p>
            <a:pPr algn="ctr"/>
            <a:r>
              <a:rPr sz="1400" b="1" i="0">
                <a:solidFill>
                  <a:srgbClr val="07101E"/>
                </a:solidFill>
                <a:latin typeface="Calibri"/>
              </a:rPr>
              <a:t>For MPs &amp; MLAs</a:t>
            </a:r>
          </a:p>
        </p:txBody>
      </p:sp>
      <p:sp>
        <p:nvSpPr>
          <p:cNvPr id="10" name="TextBox 9"/>
          <p:cNvSpPr txBox="1"/>
          <p:nvPr/>
        </p:nvSpPr>
        <p:spPr>
          <a:xfrm>
            <a:off x="457200" y="3630168"/>
            <a:ext cx="3474720" cy="914400"/>
          </a:xfrm>
          <a:prstGeom prst="rect">
            <a:avLst/>
          </a:prstGeom>
          <a:noFill/>
        </p:spPr>
        <p:txBody>
          <a:bodyPr wrap="square">
            <a:spAutoFit/>
          </a:bodyPr>
          <a:lstStyle/>
          <a:p>
            <a:pPr algn="ctr"/>
            <a:r>
              <a:rPr sz="1100" b="0" i="0">
                <a:solidFill>
                  <a:srgbClr val="07101E"/>
                </a:solidFill>
                <a:latin typeface="Calibri"/>
              </a:rPr>
              <a:t>Free 30-day pilot
Full product, your constituency, zero commitment.</a:t>
            </a:r>
          </a:p>
        </p:txBody>
      </p:sp>
      <p:sp>
        <p:nvSpPr>
          <p:cNvPr id="11" name="Rectangle 10"/>
          <p:cNvSpPr/>
          <p:nvPr/>
        </p:nvSpPr>
        <p:spPr>
          <a:xfrm>
            <a:off x="4251960" y="3063240"/>
            <a:ext cx="3474720" cy="16459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60" y="3172968"/>
            <a:ext cx="3474720" cy="411480"/>
          </a:xfrm>
          <a:prstGeom prst="rect">
            <a:avLst/>
          </a:prstGeom>
          <a:noFill/>
        </p:spPr>
        <p:txBody>
          <a:bodyPr wrap="square">
            <a:spAutoFit/>
          </a:bodyPr>
          <a:lstStyle/>
          <a:p>
            <a:pPr algn="ctr"/>
            <a:r>
              <a:rPr sz="1400" b="1" i="0">
                <a:solidFill>
                  <a:srgbClr val="07101E"/>
                </a:solidFill>
                <a:latin typeface="Calibri"/>
              </a:rPr>
              <a:t>For Councillors</a:t>
            </a:r>
          </a:p>
        </p:txBody>
      </p:sp>
      <p:sp>
        <p:nvSpPr>
          <p:cNvPr id="13" name="TextBox 12"/>
          <p:cNvSpPr txBox="1"/>
          <p:nvPr/>
        </p:nvSpPr>
        <p:spPr>
          <a:xfrm>
            <a:off x="4251960" y="3630168"/>
            <a:ext cx="3474720" cy="914400"/>
          </a:xfrm>
          <a:prstGeom prst="rect">
            <a:avLst/>
          </a:prstGeom>
          <a:noFill/>
        </p:spPr>
        <p:txBody>
          <a:bodyPr wrap="square">
            <a:spAutoFit/>
          </a:bodyPr>
          <a:lstStyle/>
          <a:p>
            <a:pPr algn="ctr"/>
            <a:r>
              <a:rPr sz="1100" b="0" i="0">
                <a:solidFill>
                  <a:srgbClr val="07101E"/>
                </a:solidFill>
                <a:latin typeface="Calibri"/>
              </a:rPr>
              <a:t>Starter plan from ₹5,000/mo
Ward-level WhatsApp intake + case tracker.</a:t>
            </a:r>
          </a:p>
        </p:txBody>
      </p:sp>
      <p:sp>
        <p:nvSpPr>
          <p:cNvPr id="14" name="Rectangle 13"/>
          <p:cNvSpPr/>
          <p:nvPr/>
        </p:nvSpPr>
        <p:spPr>
          <a:xfrm>
            <a:off x="8046720" y="3063240"/>
            <a:ext cx="3474720" cy="1645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3172968"/>
            <a:ext cx="3474720" cy="411480"/>
          </a:xfrm>
          <a:prstGeom prst="rect">
            <a:avLst/>
          </a:prstGeom>
          <a:noFill/>
        </p:spPr>
        <p:txBody>
          <a:bodyPr wrap="square">
            <a:spAutoFit/>
          </a:bodyPr>
          <a:lstStyle/>
          <a:p>
            <a:pPr algn="ctr"/>
            <a:r>
              <a:rPr sz="1400" b="1" i="0">
                <a:solidFill>
                  <a:srgbClr val="FFFFFF"/>
                </a:solidFill>
                <a:latin typeface="Calibri"/>
              </a:rPr>
              <a:t>For Aspirants</a:t>
            </a:r>
          </a:p>
        </p:txBody>
      </p:sp>
      <p:sp>
        <p:nvSpPr>
          <p:cNvPr id="16" name="TextBox 15"/>
          <p:cNvSpPr txBox="1"/>
          <p:nvPr/>
        </p:nvSpPr>
        <p:spPr>
          <a:xfrm>
            <a:off x="8046720" y="3630168"/>
            <a:ext cx="3474720" cy="914400"/>
          </a:xfrm>
          <a:prstGeom prst="rect">
            <a:avLst/>
          </a:prstGeom>
          <a:noFill/>
        </p:spPr>
        <p:txBody>
          <a:bodyPr wrap="square">
            <a:spAutoFit/>
          </a:bodyPr>
          <a:lstStyle/>
          <a:p>
            <a:pPr algn="ctr"/>
            <a:r>
              <a:rPr sz="1100" b="0" i="0">
                <a:solidFill>
                  <a:srgbClr val="FFFFFF"/>
                </a:solidFill>
                <a:latin typeface="Calibri"/>
              </a:rPr>
              <a:t>Aspirant Plan — coming Q2 2025
Join the waitlist. Build your base now.</a:t>
            </a:r>
          </a:p>
        </p:txBody>
      </p:sp>
      <p:sp>
        <p:nvSpPr>
          <p:cNvPr id="17" name="Rectangle 16"/>
          <p:cNvSpPr/>
          <p:nvPr/>
        </p:nvSpPr>
        <p:spPr>
          <a:xfrm>
            <a:off x="457200" y="4937760"/>
            <a:ext cx="11247120" cy="914400"/>
          </a:xfrm>
          <a:prstGeom prst="rect">
            <a:avLst/>
          </a:prstGeom>
          <a:solidFill>
            <a:srgbClr val="18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11247120" cy="457200"/>
          </a:xfrm>
          <a:prstGeom prst="rect">
            <a:avLst/>
          </a:prstGeom>
          <a:noFill/>
        </p:spPr>
        <p:txBody>
          <a:bodyPr wrap="square">
            <a:spAutoFit/>
          </a:bodyPr>
          <a:lstStyle/>
          <a:p>
            <a:pPr algn="ctr"/>
            <a:r>
              <a:rPr sz="1300" b="1" i="0">
                <a:solidFill>
                  <a:srgbClr val="F5C518"/>
                </a:solidFill>
                <a:latin typeface="Calibri"/>
              </a:rPr>
              <a:t>WhatsApp:  +91 XXXXX XXXXX   ·   Email:  contact@mediawale.in   ·   needle.mediawale.in</a:t>
            </a:r>
          </a:p>
        </p:txBody>
      </p:sp>
      <p:sp>
        <p:nvSpPr>
          <p:cNvPr id="19" name="TextBox 18"/>
          <p:cNvSpPr txBox="1"/>
          <p:nvPr/>
        </p:nvSpPr>
        <p:spPr>
          <a:xfrm>
            <a:off x="457200" y="5559552"/>
            <a:ext cx="11247120" cy="347472"/>
          </a:xfrm>
          <a:prstGeom prst="rect">
            <a:avLst/>
          </a:prstGeom>
          <a:noFill/>
        </p:spPr>
        <p:txBody>
          <a:bodyPr wrap="square">
            <a:spAutoFit/>
          </a:bodyPr>
          <a:lstStyle/>
          <a:p>
            <a:pPr algn="ctr"/>
            <a:r>
              <a:rPr sz="1100" b="0" i="0">
                <a:solidFill>
                  <a:srgbClr val="D4E1ED"/>
                </a:solidFill>
                <a:latin typeface="Calibri"/>
              </a:rPr>
              <a:t>Demo available — 30 minutes, your team, your constituency, your questions.</a:t>
            </a:r>
          </a:p>
        </p:txBody>
      </p:sp>
      <p:sp>
        <p:nvSpPr>
          <p:cNvPr id="20" name="TextBox 19"/>
          <p:cNvSpPr txBox="1"/>
          <p:nvPr/>
        </p:nvSpPr>
        <p:spPr>
          <a:xfrm>
            <a:off x="548640" y="6035040"/>
            <a:ext cx="10972800" cy="457200"/>
          </a:xfrm>
          <a:prstGeom prst="rect">
            <a:avLst/>
          </a:prstGeom>
          <a:noFill/>
        </p:spPr>
        <p:txBody>
          <a:bodyPr wrap="square">
            <a:spAutoFit/>
          </a:bodyPr>
          <a:lstStyle/>
          <a:p>
            <a:pPr algn="ctr"/>
            <a:r>
              <a:rPr sz="1300" b="0" i="1">
                <a:solidFill>
                  <a:srgbClr val="FF7A00"/>
                </a:solidFill>
                <a:latin typeface="Calibri"/>
              </a:rPr>
              <a:t>"The booth agent who never asks for a party ticket."</a:t>
            </a:r>
          </a:p>
        </p:txBody>
      </p:sp>
      <p:sp>
        <p:nvSpPr>
          <p:cNvPr id="21" name="TextBox 20"/>
          <p:cNvSpPr txBox="1"/>
          <p:nvPr/>
        </p:nvSpPr>
        <p:spPr>
          <a:xfrm>
            <a:off x="0" y="6419088"/>
            <a:ext cx="11914632" cy="320040"/>
          </a:xfrm>
          <a:prstGeom prst="rect">
            <a:avLst/>
          </a:prstGeom>
          <a:noFill/>
        </p:spPr>
        <p:txBody>
          <a:bodyPr wrap="square">
            <a:spAutoFit/>
          </a:bodyPr>
          <a:lstStyle/>
          <a:p>
            <a:pPr algn="r"/>
            <a:r>
              <a:rPr sz="800" b="0" i="0">
                <a:solidFill>
                  <a:srgbClr val="7A98B2"/>
                </a:solidFill>
                <a:latin typeface="Calibri"/>
              </a:rPr>
              <a:t>NEEDLE  ·  needle.mediawale.in  ·  Proprietary &amp;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